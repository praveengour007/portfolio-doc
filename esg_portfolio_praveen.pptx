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12338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6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4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13" Type="http://schemas.openxmlformats.org/officeDocument/2006/relationships/image" Target="../media/image67.png"/><Relationship Id="rId3" Type="http://schemas.openxmlformats.org/officeDocument/2006/relationships/image" Target="../media/image57.png"/><Relationship Id="rId7" Type="http://schemas.openxmlformats.org/officeDocument/2006/relationships/image" Target="../media/image61.png"/><Relationship Id="rId12" Type="http://schemas.openxmlformats.org/officeDocument/2006/relationships/image" Target="../media/image6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Relationship Id="rId11" Type="http://schemas.openxmlformats.org/officeDocument/2006/relationships/image" Target="../media/image65.png"/><Relationship Id="rId5" Type="http://schemas.openxmlformats.org/officeDocument/2006/relationships/image" Target="../media/image59.png"/><Relationship Id="rId10" Type="http://schemas.openxmlformats.org/officeDocument/2006/relationships/image" Target="../media/image64.png"/><Relationship Id="rId4" Type="http://schemas.openxmlformats.org/officeDocument/2006/relationships/image" Target="../media/image58.png"/><Relationship Id="rId9" Type="http://schemas.openxmlformats.org/officeDocument/2006/relationships/image" Target="../media/image63.png"/><Relationship Id="rId14" Type="http://schemas.openxmlformats.org/officeDocument/2006/relationships/image" Target="../media/image5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13" Type="http://schemas.openxmlformats.org/officeDocument/2006/relationships/image" Target="../media/image78.png"/><Relationship Id="rId18" Type="http://schemas.openxmlformats.org/officeDocument/2006/relationships/image" Target="../media/image83.png"/><Relationship Id="rId3" Type="http://schemas.openxmlformats.org/officeDocument/2006/relationships/image" Target="../media/image68.png"/><Relationship Id="rId21" Type="http://schemas.openxmlformats.org/officeDocument/2006/relationships/image" Target="../media/image86.png"/><Relationship Id="rId7" Type="http://schemas.openxmlformats.org/officeDocument/2006/relationships/image" Target="../media/image72.png"/><Relationship Id="rId12" Type="http://schemas.openxmlformats.org/officeDocument/2006/relationships/image" Target="../media/image77.png"/><Relationship Id="rId17" Type="http://schemas.openxmlformats.org/officeDocument/2006/relationships/image" Target="../media/image82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81.png"/><Relationship Id="rId20" Type="http://schemas.openxmlformats.org/officeDocument/2006/relationships/image" Target="../media/image8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.png"/><Relationship Id="rId11" Type="http://schemas.openxmlformats.org/officeDocument/2006/relationships/image" Target="../media/image76.png"/><Relationship Id="rId24" Type="http://schemas.openxmlformats.org/officeDocument/2006/relationships/image" Target="../media/image6.png"/><Relationship Id="rId5" Type="http://schemas.openxmlformats.org/officeDocument/2006/relationships/image" Target="../media/image70.png"/><Relationship Id="rId15" Type="http://schemas.openxmlformats.org/officeDocument/2006/relationships/image" Target="../media/image80.png"/><Relationship Id="rId23" Type="http://schemas.openxmlformats.org/officeDocument/2006/relationships/image" Target="../media/image88.png"/><Relationship Id="rId10" Type="http://schemas.openxmlformats.org/officeDocument/2006/relationships/image" Target="../media/image75.png"/><Relationship Id="rId19" Type="http://schemas.openxmlformats.org/officeDocument/2006/relationships/image" Target="../media/image84.png"/><Relationship Id="rId4" Type="http://schemas.openxmlformats.org/officeDocument/2006/relationships/image" Target="../media/image69.png"/><Relationship Id="rId9" Type="http://schemas.openxmlformats.org/officeDocument/2006/relationships/image" Target="../media/image74.png"/><Relationship Id="rId14" Type="http://schemas.openxmlformats.org/officeDocument/2006/relationships/image" Target="../media/image79.png"/><Relationship Id="rId22" Type="http://schemas.openxmlformats.org/officeDocument/2006/relationships/image" Target="../media/image8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4.png"/><Relationship Id="rId13" Type="http://schemas.openxmlformats.org/officeDocument/2006/relationships/image" Target="../media/image99.png"/><Relationship Id="rId18" Type="http://schemas.openxmlformats.org/officeDocument/2006/relationships/image" Target="../media/image104.png"/><Relationship Id="rId26" Type="http://schemas.openxmlformats.org/officeDocument/2006/relationships/image" Target="../media/image112.png"/><Relationship Id="rId3" Type="http://schemas.openxmlformats.org/officeDocument/2006/relationships/image" Target="../media/image89.png"/><Relationship Id="rId21" Type="http://schemas.openxmlformats.org/officeDocument/2006/relationships/image" Target="../media/image107.png"/><Relationship Id="rId7" Type="http://schemas.openxmlformats.org/officeDocument/2006/relationships/image" Target="../media/image93.png"/><Relationship Id="rId12" Type="http://schemas.openxmlformats.org/officeDocument/2006/relationships/image" Target="../media/image98.png"/><Relationship Id="rId17" Type="http://schemas.openxmlformats.org/officeDocument/2006/relationships/image" Target="../media/image103.png"/><Relationship Id="rId25" Type="http://schemas.openxmlformats.org/officeDocument/2006/relationships/image" Target="../media/image111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02.png"/><Relationship Id="rId20" Type="http://schemas.openxmlformats.org/officeDocument/2006/relationships/image" Target="../media/image106.png"/><Relationship Id="rId29" Type="http://schemas.openxmlformats.org/officeDocument/2006/relationships/image" Target="../media/image1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2.png"/><Relationship Id="rId11" Type="http://schemas.openxmlformats.org/officeDocument/2006/relationships/image" Target="../media/image97.png"/><Relationship Id="rId24" Type="http://schemas.openxmlformats.org/officeDocument/2006/relationships/image" Target="../media/image110.png"/><Relationship Id="rId5" Type="http://schemas.openxmlformats.org/officeDocument/2006/relationships/image" Target="../media/image91.png"/><Relationship Id="rId15" Type="http://schemas.openxmlformats.org/officeDocument/2006/relationships/image" Target="../media/image101.png"/><Relationship Id="rId23" Type="http://schemas.openxmlformats.org/officeDocument/2006/relationships/image" Target="../media/image109.png"/><Relationship Id="rId28" Type="http://schemas.openxmlformats.org/officeDocument/2006/relationships/image" Target="../media/image114.png"/><Relationship Id="rId10" Type="http://schemas.openxmlformats.org/officeDocument/2006/relationships/image" Target="../media/image96.png"/><Relationship Id="rId19" Type="http://schemas.openxmlformats.org/officeDocument/2006/relationships/image" Target="../media/image105.png"/><Relationship Id="rId31" Type="http://schemas.openxmlformats.org/officeDocument/2006/relationships/image" Target="../media/image6.png"/><Relationship Id="rId4" Type="http://schemas.openxmlformats.org/officeDocument/2006/relationships/image" Target="../media/image90.png"/><Relationship Id="rId9" Type="http://schemas.openxmlformats.org/officeDocument/2006/relationships/image" Target="../media/image95.png"/><Relationship Id="rId14" Type="http://schemas.openxmlformats.org/officeDocument/2006/relationships/image" Target="../media/image100.png"/><Relationship Id="rId22" Type="http://schemas.openxmlformats.org/officeDocument/2006/relationships/image" Target="../media/image108.png"/><Relationship Id="rId27" Type="http://schemas.openxmlformats.org/officeDocument/2006/relationships/image" Target="../media/image113.png"/><Relationship Id="rId30" Type="http://schemas.openxmlformats.org/officeDocument/2006/relationships/image" Target="../media/image11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3" Type="http://schemas.openxmlformats.org/officeDocument/2006/relationships/image" Target="../media/image117.png"/><Relationship Id="rId7" Type="http://schemas.openxmlformats.org/officeDocument/2006/relationships/image" Target="../media/image1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18.png"/><Relationship Id="rId9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7.png"/><Relationship Id="rId13" Type="http://schemas.openxmlformats.org/officeDocument/2006/relationships/image" Target="../media/image6.png"/><Relationship Id="rId3" Type="http://schemas.openxmlformats.org/officeDocument/2006/relationships/image" Target="../media/image123.png"/><Relationship Id="rId7" Type="http://schemas.openxmlformats.org/officeDocument/2006/relationships/image" Target="../media/image12.png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6.png"/><Relationship Id="rId11" Type="http://schemas.openxmlformats.org/officeDocument/2006/relationships/image" Target="../media/image130.png"/><Relationship Id="rId5" Type="http://schemas.openxmlformats.org/officeDocument/2006/relationships/image" Target="../media/image125.png"/><Relationship Id="rId10" Type="http://schemas.openxmlformats.org/officeDocument/2006/relationships/image" Target="../media/image129.png"/><Relationship Id="rId4" Type="http://schemas.openxmlformats.org/officeDocument/2006/relationships/image" Target="../media/image124.png"/><Relationship Id="rId9" Type="http://schemas.openxmlformats.org/officeDocument/2006/relationships/image" Target="../media/image1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5" Type="http://schemas.openxmlformats.org/officeDocument/2006/relationships/image" Target="../media/image134.png"/><Relationship Id="rId4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0" y="0"/>
            <a:ext cx="190195" cy="6858000"/>
          </a:xfrm>
          <a:prstGeom prst="rect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l="-3" r="-3"/>
          <a:stretch/>
        </p:blipFill>
        <p:spPr>
          <a:xfrm>
            <a:off x="6096305" y="0"/>
            <a:ext cx="6096305" cy="68580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18895" y="717804"/>
            <a:ext cx="10383012" cy="152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ESG &amp; </a:t>
            </a:r>
            <a:endParaRPr lang="en-US" sz="6000" dirty="0"/>
          </a:p>
          <a:p>
            <a:pPr marL="0" indent="0" algn="l">
              <a:buNone/>
            </a:pPr>
            <a:r>
              <a:rPr lang="en-US" sz="6000" b="1" kern="0" spc="-150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Sustainability</a:t>
            </a:r>
            <a:endParaRPr lang="en-US" sz="6000" dirty="0"/>
          </a:p>
        </p:txBody>
      </p:sp>
      <p:sp>
        <p:nvSpPr>
          <p:cNvPr id="7" name="Text 4"/>
          <p:cNvSpPr txBox="1"/>
          <p:nvPr/>
        </p:nvSpPr>
        <p:spPr>
          <a:xfrm>
            <a:off x="1218895" y="2318004"/>
            <a:ext cx="1040130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kern="0" spc="-150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</a:t>
            </a:r>
            <a:endParaRPr lang="en-US" sz="6000" dirty="0"/>
          </a:p>
        </p:txBody>
      </p:sp>
      <p:sp>
        <p:nvSpPr>
          <p:cNvPr id="8" name="Text 5"/>
          <p:cNvSpPr txBox="1"/>
          <p:nvPr/>
        </p:nvSpPr>
        <p:spPr>
          <a:xfrm>
            <a:off x="1218895" y="3842309"/>
            <a:ext cx="7429500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Turning ESG Insights Into </a:t>
            </a:r>
            <a:r>
              <a:rPr lang="en-US" sz="220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Business Results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18895" y="5149901"/>
            <a:ext cx="609905" cy="6099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410005" y="534009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057400" y="5168189"/>
            <a:ext cx="3534156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</a:t>
            </a:r>
            <a:endParaRPr lang="en-US" sz="1800" dirty="0"/>
          </a:p>
        </p:txBody>
      </p:sp>
      <p:sp>
        <p:nvSpPr>
          <p:cNvPr id="12" name="Text 8"/>
          <p:cNvSpPr txBox="1"/>
          <p:nvPr/>
        </p:nvSpPr>
        <p:spPr>
          <a:xfrm>
            <a:off x="2057400" y="5473598"/>
            <a:ext cx="404713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kern="0" spc="34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Aspiring ESG &amp; Sustainability Professional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288310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SUMMARY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329915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Profile &amp; Project Scope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825582" y="1257300"/>
            <a:ext cx="6099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Profile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1800454"/>
            <a:ext cx="10668305" cy="942746"/>
          </a:xfrm>
          <a:prstGeom prst="roundRect">
            <a:avLst>
              <a:gd name="adj" fmla="val 3919"/>
            </a:avLst>
          </a:prstGeom>
          <a:solidFill>
            <a:srgbClr val="F0FDF4"/>
          </a:solidFill>
          <a:ln/>
        </p:spPr>
      </p:sp>
      <p:sp>
        <p:nvSpPr>
          <p:cNvPr id="9" name="Shape 7"/>
          <p:cNvSpPr/>
          <p:nvPr/>
        </p:nvSpPr>
        <p:spPr>
          <a:xfrm>
            <a:off x="761695" y="1800454"/>
            <a:ext cx="47549" cy="942746"/>
          </a:xfrm>
          <a:prstGeom prst="roundRect">
            <a:avLst>
              <a:gd name="adj" fmla="val 77700"/>
            </a:avLst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37844" y="1971446"/>
            <a:ext cx="267005" cy="267005"/>
          </a:xfrm>
          <a:prstGeom prst="ellipse">
            <a:avLst/>
          </a:prstGeom>
          <a:solidFill>
            <a:srgbClr val="0447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104595" y="2038198"/>
            <a:ext cx="133502" cy="13350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419149" y="1985162"/>
            <a:ext cx="12335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47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Role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1037844" y="2352751"/>
            <a:ext cx="108493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Sales &amp; International Business professional with 3+ years of experience in export operations, client coordination, and supply chain execution across international markets.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61695" y="2891333"/>
            <a:ext cx="10668305" cy="1162202"/>
          </a:xfrm>
          <a:prstGeom prst="roundRect">
            <a:avLst>
              <a:gd name="adj" fmla="val 2580"/>
            </a:avLst>
          </a:prstGeom>
          <a:solidFill>
            <a:srgbClr val="F0FDF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761695" y="2891333"/>
            <a:ext cx="47549" cy="1162202"/>
          </a:xfrm>
          <a:prstGeom prst="roundRect">
            <a:avLst>
              <a:gd name="adj" fmla="val 63051"/>
            </a:avLst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037844" y="3062326"/>
            <a:ext cx="267005" cy="267005"/>
          </a:xfrm>
          <a:prstGeom prst="ellipse">
            <a:avLst/>
          </a:prstGeom>
          <a:solidFill>
            <a:srgbClr val="0447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l="-2512" r="-2512"/>
          <a:stretch/>
        </p:blipFill>
        <p:spPr>
          <a:xfrm>
            <a:off x="1119226" y="3129077"/>
            <a:ext cx="105156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419149" y="3076042"/>
            <a:ext cx="246613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47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 for ESG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1037844" y="3443630"/>
            <a:ext cx="10239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exposure to global supply chains, documentation-led compliance, and vendor coordination provided practical insight into sustainability risks across logistics, sourcing, and operational decision-making beyond ESG reporting.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61695" y="4197096"/>
            <a:ext cx="10668305" cy="1162202"/>
          </a:xfrm>
          <a:prstGeom prst="roundRect">
            <a:avLst>
              <a:gd name="adj" fmla="val 2580"/>
            </a:avLst>
          </a:prstGeom>
          <a:solidFill>
            <a:srgbClr val="F0FDF4"/>
          </a:solidFill>
          <a:ln/>
        </p:spPr>
      </p:sp>
      <p:sp>
        <p:nvSpPr>
          <p:cNvPr id="21" name="Shape 17"/>
          <p:cNvSpPr/>
          <p:nvPr/>
        </p:nvSpPr>
        <p:spPr>
          <a:xfrm>
            <a:off x="761695" y="4197096"/>
            <a:ext cx="47549" cy="1162202"/>
          </a:xfrm>
          <a:prstGeom prst="roundRect">
            <a:avLst>
              <a:gd name="adj" fmla="val 63051"/>
            </a:avLst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1037844" y="4368089"/>
            <a:ext cx="267005" cy="267005"/>
          </a:xfrm>
          <a:prstGeom prst="ellipse">
            <a:avLst/>
          </a:prstGeom>
          <a:solidFill>
            <a:srgbClr val="04473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 l="-2838" r="-2838"/>
          <a:stretch/>
        </p:blipFill>
        <p:spPr>
          <a:xfrm>
            <a:off x="1110082" y="4434840"/>
            <a:ext cx="123444" cy="133502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419149" y="4381805"/>
            <a:ext cx="171175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0447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Transition to ESG</a:t>
            </a:r>
            <a:endParaRPr lang="en-US" sz="1200" dirty="0"/>
          </a:p>
        </p:txBody>
      </p:sp>
      <p:sp>
        <p:nvSpPr>
          <p:cNvPr id="25" name="Text 20"/>
          <p:cNvSpPr txBox="1"/>
          <p:nvPr/>
        </p:nvSpPr>
        <p:spPr>
          <a:xfrm>
            <a:off x="1037844" y="4749394"/>
            <a:ext cx="102394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portfolio documents my structured transition into ESG analysis, sustainability strategy, and reporting through consulting-style simulations and hands-on framework application.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761695" y="6215177"/>
            <a:ext cx="2312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0986516" y="6215177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2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1695" y="1600200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9246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700" b="1" kern="0" spc="-67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PORTFOLIO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81405"/>
            <a:ext cx="440832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Selected ESG &amp; Sustainability Engagements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940796" y="1257300"/>
            <a:ext cx="4956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kern="0" spc="52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761695" y="1837944"/>
            <a:ext cx="5219395" cy="1932127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61695" y="1837944"/>
            <a:ext cx="38405" cy="28346"/>
          </a:xfrm>
          <a:prstGeom prst="rect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61949" y="2040941"/>
            <a:ext cx="381305" cy="381305"/>
          </a:xfrm>
          <a:prstGeom prst="ellipse">
            <a:avLst/>
          </a:prstGeom>
          <a:solidFill>
            <a:srgbClr val="F1F5F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842" b="-842"/>
          <a:stretch/>
        </p:blipFill>
        <p:spPr>
          <a:xfrm>
            <a:off x="1057046" y="2145182"/>
            <a:ext cx="190195" cy="17190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57554" y="2038198"/>
            <a:ext cx="13716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 Simulation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1457554" y="2210105"/>
            <a:ext cx="15416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Climate Strategy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961949" y="2538374"/>
            <a:ext cx="48966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Developed a practical, financially grounded decarbonization roadmap. Analyzed Scope 1, 2, &amp; 3 emissions and prioritized abatement levers based on cost.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961949" y="3345790"/>
            <a:ext cx="895198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61949" y="3345790"/>
            <a:ext cx="9528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 Baseline</a:t>
            </a:r>
            <a:endParaRPr lang="en-US" sz="800" dirty="0"/>
          </a:p>
        </p:txBody>
      </p:sp>
      <p:sp>
        <p:nvSpPr>
          <p:cNvPr id="17" name="Shape 13"/>
          <p:cNvSpPr/>
          <p:nvPr/>
        </p:nvSpPr>
        <p:spPr>
          <a:xfrm>
            <a:off x="1931213" y="3345790"/>
            <a:ext cx="1200607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1931213" y="3345790"/>
            <a:ext cx="12573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Curves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3207715" y="3345790"/>
            <a:ext cx="666598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3207715" y="3345790"/>
            <a:ext cx="7242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Roadmap</a:t>
            </a:r>
            <a:endParaRPr lang="en-US" sz="800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3"/>
          <a:srcRect l="-4" r="-4"/>
          <a:stretch/>
        </p:blipFill>
        <p:spPr>
          <a:xfrm>
            <a:off x="6210605" y="1837944"/>
            <a:ext cx="5219395" cy="1932127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10605" y="1837944"/>
            <a:ext cx="38405" cy="28346"/>
          </a:xfrm>
          <a:prstGeom prst="rect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409944" y="2040941"/>
            <a:ext cx="381305" cy="381305"/>
          </a:xfrm>
          <a:prstGeom prst="ellipse">
            <a:avLst/>
          </a:prstGeom>
          <a:solidFill>
            <a:srgbClr val="FEF2F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515100" y="2145182"/>
            <a:ext cx="171907" cy="171907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6905549" y="2038198"/>
            <a:ext cx="15051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F8717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ACCA Simulation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905549" y="2210105"/>
            <a:ext cx="1700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Due Diligence</a:t>
            </a:r>
            <a:endParaRPr lang="en-US" sz="1300" dirty="0"/>
          </a:p>
        </p:txBody>
      </p:sp>
      <p:sp>
        <p:nvSpPr>
          <p:cNvPr id="27" name="Text 21"/>
          <p:cNvSpPr txBox="1"/>
          <p:nvPr/>
        </p:nvSpPr>
        <p:spPr>
          <a:xfrm>
            <a:off x="6409944" y="2538374"/>
            <a:ext cx="48966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Conducted comprehensive ESG risk assessment for a palm oil producer. Structured Sustainability-Linked Loan (SLL) mechanisms with ambitious KPIs and SPTs.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6409944" y="3345790"/>
            <a:ext cx="92354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409944" y="3345790"/>
            <a:ext cx="981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Due Diligence</a:t>
            </a:r>
            <a:endParaRPr lang="en-US" sz="800" dirty="0"/>
          </a:p>
        </p:txBody>
      </p:sp>
      <p:sp>
        <p:nvSpPr>
          <p:cNvPr id="30" name="Shape 24"/>
          <p:cNvSpPr/>
          <p:nvPr/>
        </p:nvSpPr>
        <p:spPr>
          <a:xfrm>
            <a:off x="7401154" y="3345790"/>
            <a:ext cx="1324051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401154" y="3345790"/>
            <a:ext cx="13816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Sustainable Finance</a:t>
            </a:r>
            <a:endParaRPr lang="en-US" sz="800" dirty="0"/>
          </a:p>
        </p:txBody>
      </p:sp>
      <p:sp>
        <p:nvSpPr>
          <p:cNvPr id="32" name="Shape 26"/>
          <p:cNvSpPr/>
          <p:nvPr/>
        </p:nvSpPr>
        <p:spPr>
          <a:xfrm>
            <a:off x="8801100" y="3345790"/>
            <a:ext cx="743407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8801100" y="3345790"/>
            <a:ext cx="80010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Mgmt</a:t>
            </a:r>
            <a:endParaRPr lang="en-US" sz="8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761695" y="3999586"/>
            <a:ext cx="5219395" cy="1715414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761695" y="3999586"/>
            <a:ext cx="38405" cy="28346"/>
          </a:xfrm>
          <a:prstGeom prst="rect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961949" y="4201668"/>
            <a:ext cx="381305" cy="381305"/>
          </a:xfrm>
          <a:prstGeom prst="ellipse">
            <a:avLst/>
          </a:prstGeom>
          <a:solidFill>
            <a:srgbClr val="EFF6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7"/>
          <a:srcRect l="-1064" r="-1064"/>
          <a:stretch/>
        </p:blipFill>
        <p:spPr>
          <a:xfrm>
            <a:off x="1043330" y="4306824"/>
            <a:ext cx="219456" cy="171907"/>
          </a:xfrm>
          <a:prstGeom prst="rect">
            <a:avLst/>
          </a:prstGeom>
        </p:spPr>
      </p:pic>
      <p:sp>
        <p:nvSpPr>
          <p:cNvPr id="38" name="Text 30"/>
          <p:cNvSpPr txBox="1"/>
          <p:nvPr/>
        </p:nvSpPr>
        <p:spPr>
          <a:xfrm>
            <a:off x="1457554" y="4198925"/>
            <a:ext cx="1705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0A5F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TCS Simulation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1457554" y="4370832"/>
            <a:ext cx="19385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ESG Solutions</a:t>
            </a:r>
            <a:endParaRPr lang="en-US" sz="1300" dirty="0"/>
          </a:p>
        </p:txBody>
      </p:sp>
      <p:sp>
        <p:nvSpPr>
          <p:cNvPr id="40" name="Text 32"/>
          <p:cNvSpPr txBox="1"/>
          <p:nvPr/>
        </p:nvSpPr>
        <p:spPr>
          <a:xfrm>
            <a:off x="961949" y="4699102"/>
            <a:ext cx="48966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Performed gap analysis for a higher education institution. Mapped digital sustainability solutions (IoT, Carbon Accounting) to address inefficiencies.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961949" y="5289804"/>
            <a:ext cx="886054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Text 34"/>
          <p:cNvSpPr txBox="1"/>
          <p:nvPr/>
        </p:nvSpPr>
        <p:spPr>
          <a:xfrm>
            <a:off x="961949" y="5289804"/>
            <a:ext cx="94366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 Analysis</a:t>
            </a:r>
            <a:endParaRPr lang="en-US" sz="800" dirty="0"/>
          </a:p>
        </p:txBody>
      </p:sp>
      <p:sp>
        <p:nvSpPr>
          <p:cNvPr id="43" name="Shape 35"/>
          <p:cNvSpPr/>
          <p:nvPr/>
        </p:nvSpPr>
        <p:spPr>
          <a:xfrm>
            <a:off x="1922069" y="5289804"/>
            <a:ext cx="11622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36"/>
          <p:cNvSpPr txBox="1"/>
          <p:nvPr/>
        </p:nvSpPr>
        <p:spPr>
          <a:xfrm>
            <a:off x="1922069" y="5289804"/>
            <a:ext cx="12198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Solutions</a:t>
            </a:r>
            <a:endParaRPr lang="en-US" sz="800" dirty="0"/>
          </a:p>
        </p:txBody>
      </p:sp>
      <p:sp>
        <p:nvSpPr>
          <p:cNvPr id="45" name="Shape 37"/>
          <p:cNvSpPr/>
          <p:nvPr/>
        </p:nvSpPr>
        <p:spPr>
          <a:xfrm>
            <a:off x="3151937" y="5289804"/>
            <a:ext cx="110459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3151937" y="5289804"/>
            <a:ext cx="116220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Transformation</a:t>
            </a:r>
            <a:endParaRPr lang="en-US" sz="80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6"/>
          <a:srcRect l="-5" r="-5"/>
          <a:stretch/>
        </p:blipFill>
        <p:spPr>
          <a:xfrm>
            <a:off x="6210605" y="3999586"/>
            <a:ext cx="5219395" cy="1715414"/>
          </a:xfrm>
          <a:prstGeom prst="rect">
            <a:avLst/>
          </a:prstGeom>
        </p:spPr>
      </p:pic>
      <p:sp>
        <p:nvSpPr>
          <p:cNvPr id="48" name="Shape 39"/>
          <p:cNvSpPr/>
          <p:nvPr/>
        </p:nvSpPr>
        <p:spPr>
          <a:xfrm>
            <a:off x="6210605" y="3999586"/>
            <a:ext cx="38405" cy="28346"/>
          </a:xfrm>
          <a:prstGeom prst="rect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6409944" y="4201668"/>
            <a:ext cx="381305" cy="3813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8"/>
          <a:srcRect t="-842" b="-842"/>
          <a:stretch/>
        </p:blipFill>
        <p:spPr>
          <a:xfrm>
            <a:off x="6505956" y="4306824"/>
            <a:ext cx="190195" cy="171907"/>
          </a:xfrm>
          <a:prstGeom prst="rect">
            <a:avLst/>
          </a:prstGeom>
        </p:spPr>
      </p:pic>
      <p:sp>
        <p:nvSpPr>
          <p:cNvPr id="51" name="Text 41"/>
          <p:cNvSpPr txBox="1"/>
          <p:nvPr/>
        </p:nvSpPr>
        <p:spPr>
          <a:xfrm>
            <a:off x="6905549" y="4198925"/>
            <a:ext cx="1666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Frameworks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6905549" y="4370832"/>
            <a:ext cx="18937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118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Standards</a:t>
            </a:r>
            <a:endParaRPr lang="en-US" sz="1300" dirty="0"/>
          </a:p>
        </p:txBody>
      </p:sp>
      <p:sp>
        <p:nvSpPr>
          <p:cNvPr id="53" name="Text 43"/>
          <p:cNvSpPr txBox="1"/>
          <p:nvPr/>
        </p:nvSpPr>
        <p:spPr>
          <a:xfrm>
            <a:off x="6409944" y="4699102"/>
            <a:ext cx="4896612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Applied global reporting standards to analyze corporate disclosures. Comparison and application of GRI, BRSR, SASB, and IFRS S1/S2.</a:t>
            </a:r>
            <a:endParaRPr lang="en-US" sz="1000" dirty="0"/>
          </a:p>
        </p:txBody>
      </p:sp>
      <p:sp>
        <p:nvSpPr>
          <p:cNvPr id="54" name="Shape 44"/>
          <p:cNvSpPr/>
          <p:nvPr/>
        </p:nvSpPr>
        <p:spPr>
          <a:xfrm>
            <a:off x="6409944" y="5289804"/>
            <a:ext cx="724205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5"/>
          <p:cNvSpPr txBox="1"/>
          <p:nvPr/>
        </p:nvSpPr>
        <p:spPr>
          <a:xfrm>
            <a:off x="6409944" y="5289804"/>
            <a:ext cx="781812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 &amp; BRSR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7206386" y="5289804"/>
            <a:ext cx="780898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7"/>
          <p:cNvSpPr txBox="1"/>
          <p:nvPr/>
        </p:nvSpPr>
        <p:spPr>
          <a:xfrm>
            <a:off x="7206386" y="5289804"/>
            <a:ext cx="838505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SASB &amp; IFRS</a:t>
            </a:r>
            <a:endParaRPr lang="en-US" sz="800" dirty="0"/>
          </a:p>
        </p:txBody>
      </p:sp>
      <p:sp>
        <p:nvSpPr>
          <p:cNvPr id="58" name="Shape 48"/>
          <p:cNvSpPr/>
          <p:nvPr/>
        </p:nvSpPr>
        <p:spPr>
          <a:xfrm>
            <a:off x="8054035" y="5289804"/>
            <a:ext cx="82844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9"/>
          <p:cNvSpPr txBox="1"/>
          <p:nvPr/>
        </p:nvSpPr>
        <p:spPr>
          <a:xfrm>
            <a:off x="8054035" y="5289804"/>
            <a:ext cx="8860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kern="0" spc="39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Materiality</a:t>
            </a:r>
            <a:endParaRPr lang="en-US" sz="800" dirty="0"/>
          </a:p>
        </p:txBody>
      </p:sp>
      <p:sp>
        <p:nvSpPr>
          <p:cNvPr id="60" name="Shape 50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1" name="Text 51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62" name="Text 52"/>
          <p:cNvSpPr txBox="1"/>
          <p:nvPr/>
        </p:nvSpPr>
        <p:spPr>
          <a:xfrm>
            <a:off x="11076127" y="626272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3</a:t>
            </a:r>
            <a:endParaRPr lang="en-US" sz="900" dirty="0"/>
          </a:p>
        </p:txBody>
      </p:sp>
      <p:pic>
        <p:nvPicPr>
          <p:cNvPr id="63" name="Image 8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2241" b="-2241"/>
          <a:stretch/>
        </p:blipFill>
        <p:spPr>
          <a:xfrm>
            <a:off x="9068105" y="4000500"/>
            <a:ext cx="3733495" cy="346740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761695"/>
            <a:ext cx="10782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CONSULTING SIMULATION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571500" cy="381305"/>
          </a:xfrm>
          <a:prstGeom prst="roundRect">
            <a:avLst>
              <a:gd name="adj" fmla="val 23981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" y="1218895"/>
            <a:ext cx="6291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083" b="-2083"/>
          <a:stretch/>
        </p:blipFill>
        <p:spPr>
          <a:xfrm>
            <a:off x="1481328" y="1295705"/>
            <a:ext cx="9144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43177" y="1276502"/>
            <a:ext cx="32086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Climate &amp; Sustainability Practice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752905"/>
            <a:ext cx="8706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Climate &amp; Decarbonization 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90" dirty="0">
                <a:solidFill>
                  <a:srgbClr val="04473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Development</a:t>
            </a:r>
            <a:endParaRPr lang="en-US" sz="3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61695" y="3276295"/>
            <a:ext cx="10668305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61695" y="3590849"/>
            <a:ext cx="38405" cy="228600"/>
          </a:xfrm>
          <a:prstGeom prst="rect">
            <a:avLst/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14400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Context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3933749"/>
            <a:ext cx="338145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engagement to develop a practical, financially grounded decarbonization strategy for a complex industrial client facing regulatory pressure.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44898" y="3590849"/>
            <a:ext cx="38405" cy="228600"/>
          </a:xfrm>
          <a:prstGeom prst="rect">
            <a:avLst/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7603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&amp; Focus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25950" y="3933749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Role: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Strategy Simulation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3972154"/>
            <a:ext cx="105156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25950" y="420075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 Baseline &amp; Benchmarking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4238244"/>
            <a:ext cx="105156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25950" y="4466844"/>
            <a:ext cx="331652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Levers &amp; Financial Analysis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4505249"/>
            <a:ext cx="105156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28102" y="3590849"/>
            <a:ext cx="38405" cy="228600"/>
          </a:xfrm>
          <a:prstGeom prst="rect">
            <a:avLst/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280806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128102" y="3933749"/>
            <a:ext cx="1028700" cy="286207"/>
          </a:xfrm>
          <a:prstGeom prst="rect">
            <a:avLst/>
          </a:prstGeom>
          <a:solidFill>
            <a:srgbClr val="F0FDF4"/>
          </a:solidFill>
          <a:ln w="12700">
            <a:solidFill>
              <a:srgbClr val="BBF7D0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205265" y="3981298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 2025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128102" y="4295851"/>
            <a:ext cx="341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*Simulated engagement via Forage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76127" y="626272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4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86242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SITUATION &amp; OBJECTIVES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37152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Context and Project Goals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056218" y="1257300"/>
            <a:ext cx="237652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 CLIMATE &amp; SUSTAINABILITY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2067458"/>
            <a:ext cx="4257446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1800454"/>
            <a:ext cx="4334256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Situation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761695" y="2190902"/>
            <a:ext cx="4254703" cy="3562502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24850" b="-24850"/>
          <a:stretch/>
        </p:blipFill>
        <p:spPr>
          <a:xfrm>
            <a:off x="990295" y="2381098"/>
            <a:ext cx="152705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57300" y="2381098"/>
            <a:ext cx="2063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Emissions Footprint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990295" y="2686507"/>
            <a:ext cx="39154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Significant exposure with high GHG emissions across Scope 1 (direct), Scope 2 (energy), and Scope 3 (value chain).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5120" b="-25120"/>
          <a:stretch/>
        </p:blipFill>
        <p:spPr>
          <a:xfrm>
            <a:off x="990295" y="3310128"/>
            <a:ext cx="190195" cy="2286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295705" y="3310128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Pressure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990295" y="3614623"/>
            <a:ext cx="391546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Increasing scrutiny from investors and regulators requires immediate action to mitigate transition risks.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73598" y="2067458"/>
            <a:ext cx="59628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473598" y="1800454"/>
            <a:ext cx="6039612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Objectives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l="-14" r="-14"/>
          <a:stretch/>
        </p:blipFill>
        <p:spPr>
          <a:xfrm>
            <a:off x="5473598" y="2190902"/>
            <a:ext cx="5956402" cy="1110996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645506" y="2352751"/>
            <a:ext cx="438912" cy="381305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6206947" y="2352751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Baseline GHG Profile</a:t>
            </a:r>
            <a:endParaRPr lang="en-US" sz="1200" dirty="0"/>
          </a:p>
        </p:txBody>
      </p:sp>
      <p:sp>
        <p:nvSpPr>
          <p:cNvPr id="22" name="Text 16"/>
          <p:cNvSpPr txBox="1"/>
          <p:nvPr/>
        </p:nvSpPr>
        <p:spPr>
          <a:xfrm>
            <a:off x="6206947" y="2619756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inventory of emissions sources to establish a verifiable baseline for Scope 1, 2, and 3.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l="-14" r="-14"/>
          <a:stretch/>
        </p:blipFill>
        <p:spPr>
          <a:xfrm>
            <a:off x="5473598" y="3416198"/>
            <a:ext cx="5956402" cy="1110996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645506" y="3578047"/>
            <a:ext cx="438912" cy="381305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6206947" y="3578047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Identify Decarbonization Levers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6206947" y="3845052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technical opportunities to reduce carbon intensity (efficiency, renewables, supply chain).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l="-14" r="-14"/>
          <a:stretch/>
        </p:blipFill>
        <p:spPr>
          <a:xfrm>
            <a:off x="5473598" y="4641494"/>
            <a:ext cx="5956402" cy="1110996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645506" y="4804258"/>
            <a:ext cx="438912" cy="381305"/>
          </a:xfrm>
          <a:prstGeom prst="rect">
            <a:avLst/>
          </a:prstGeom>
          <a:solidFill>
            <a:srgbClr val="F0FDF4"/>
          </a:solidFill>
          <a:ln w="12700">
            <a:solidFill>
              <a:srgbClr val="DCFCE7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300" dirty="0"/>
          </a:p>
        </p:txBody>
      </p:sp>
      <p:sp>
        <p:nvSpPr>
          <p:cNvPr id="29" name="Text 21"/>
          <p:cNvSpPr txBox="1"/>
          <p:nvPr/>
        </p:nvSpPr>
        <p:spPr>
          <a:xfrm>
            <a:off x="6206947" y="4804258"/>
            <a:ext cx="51435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 Prioritized Roadmap</a:t>
            </a:r>
            <a:endParaRPr lang="en-US" sz="1200" dirty="0"/>
          </a:p>
        </p:txBody>
      </p:sp>
      <p:sp>
        <p:nvSpPr>
          <p:cNvPr id="30" name="Text 22"/>
          <p:cNvSpPr txBox="1"/>
          <p:nvPr/>
        </p:nvSpPr>
        <p:spPr>
          <a:xfrm>
            <a:off x="6206947" y="5070348"/>
            <a:ext cx="51060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 implementation plan prioritizing initiatives based on abatement potential and ROI.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076127" y="626272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5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8962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APPROACH &amp; METHODOLOGY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389625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 Accounting Framework &amp; Workplan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51338" y="1257300"/>
            <a:ext cx="118506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 SIMULATION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73598" y="2104949"/>
            <a:ext cx="5962802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73598" y="1876349"/>
            <a:ext cx="6039612" cy="15361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Methodology Steps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1" r="-31"/>
          <a:stretch/>
        </p:blipFill>
        <p:spPr>
          <a:xfrm>
            <a:off x="5473598" y="5429707"/>
            <a:ext cx="5956402" cy="55687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854903" y="5544007"/>
            <a:ext cx="52011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Boundary &amp; Assumptions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854903" y="5715000"/>
            <a:ext cx="5772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Focused analysis on Scope 1 and 2 emissions, with Scope 3 reviewed at a high level for context only.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6800" b="-16800"/>
          <a:stretch/>
        </p:blipFill>
        <p:spPr>
          <a:xfrm>
            <a:off x="5663794" y="5586070"/>
            <a:ext cx="114300" cy="15270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517904" y="5277002"/>
            <a:ext cx="2743200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Visual representation of emissions boundaries applied in the baselining phase.</a:t>
            </a:r>
            <a:endParaRPr lang="en-US" sz="800" dirty="0"/>
          </a:p>
        </p:txBody>
      </p:sp>
      <p:sp>
        <p:nvSpPr>
          <p:cNvPr id="15" name="Text 11"/>
          <p:cNvSpPr txBox="1"/>
          <p:nvPr/>
        </p:nvSpPr>
        <p:spPr>
          <a:xfrm>
            <a:off x="5816498" y="2266798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Review &amp; Structuring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16498" y="2476195"/>
            <a:ext cx="6305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client-provided emissions data and classified activities across Scope 1, 2, and 3.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816498" y="2805379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Emissions Mapping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816498" y="3014777"/>
            <a:ext cx="5696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Mapped emissions sources across operations and the value chain to understand relative contribution and key drivers.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5816498" y="3500323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Benchmarking &amp; Context Review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816498" y="3709721"/>
            <a:ext cx="5696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Reviewed CDP climate disclosure scores to assess Fast Cars’ relative industry positioning and external pressure.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816498" y="4196182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Abatement Logic &amp; Initiative Identification</a:t>
            </a:r>
            <a:endParaRPr lang="en-US" sz="1000" dirty="0"/>
          </a:p>
        </p:txBody>
      </p:sp>
      <p:sp>
        <p:nvSpPr>
          <p:cNvPr id="22" name="Text 18"/>
          <p:cNvSpPr txBox="1"/>
          <p:nvPr/>
        </p:nvSpPr>
        <p:spPr>
          <a:xfrm>
            <a:off x="5816498" y="4405579"/>
            <a:ext cx="5696712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Identified potential Scope 1 and 2 reduction initiatives using marginal abatement cost curve (MACC) logic for relative comparison.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5816498" y="4891126"/>
            <a:ext cx="573420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Prioritization &amp; Roadmap Structuring</a:t>
            </a:r>
            <a:endParaRPr lang="en-US" sz="1000" dirty="0"/>
          </a:p>
        </p:txBody>
      </p:sp>
      <p:sp>
        <p:nvSpPr>
          <p:cNvPr id="24" name="Text 20"/>
          <p:cNvSpPr txBox="1"/>
          <p:nvPr/>
        </p:nvSpPr>
        <p:spPr>
          <a:xfrm>
            <a:off x="5816498" y="5100523"/>
            <a:ext cx="63057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Organized identified initiatives into a phased roadmap to support prioritization based on impact and feasibility.</a:t>
            </a:r>
            <a:endParaRPr lang="en-US" sz="9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365199" y="2076602"/>
            <a:ext cx="3047695" cy="3047695"/>
          </a:xfrm>
          <a:prstGeom prst="rect">
            <a:avLst/>
          </a:prstGeom>
        </p:spPr>
      </p:pic>
      <p:sp>
        <p:nvSpPr>
          <p:cNvPr id="26" name="Text 21"/>
          <p:cNvSpPr txBox="1"/>
          <p:nvPr/>
        </p:nvSpPr>
        <p:spPr>
          <a:xfrm>
            <a:off x="1326794" y="2247595"/>
            <a:ext cx="3124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0E749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3</a:t>
            </a:r>
            <a:endParaRPr lang="en-US" sz="800" dirty="0"/>
          </a:p>
        </p:txBody>
      </p:sp>
      <p:sp>
        <p:nvSpPr>
          <p:cNvPr id="27" name="Text 22"/>
          <p:cNvSpPr txBox="1"/>
          <p:nvPr/>
        </p:nvSpPr>
        <p:spPr>
          <a:xfrm>
            <a:off x="1326794" y="2426818"/>
            <a:ext cx="3124505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891B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Chain (Up/Downstream)</a:t>
            </a:r>
            <a:endParaRPr lang="en-US" sz="8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rcRect l="-332" r="-332"/>
          <a:stretch/>
        </p:blipFill>
        <p:spPr>
          <a:xfrm>
            <a:off x="5578754" y="2495398"/>
            <a:ext cx="19202" cy="309982"/>
          </a:xfrm>
          <a:prstGeom prst="rect">
            <a:avLst/>
          </a:prstGeom>
        </p:spPr>
      </p:pic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 l="-441" r="-441"/>
          <a:stretch/>
        </p:blipFill>
        <p:spPr>
          <a:xfrm>
            <a:off x="5578754" y="3033979"/>
            <a:ext cx="19202" cy="466344"/>
          </a:xfrm>
          <a:prstGeom prst="rect">
            <a:avLst/>
          </a:prstGeom>
        </p:spPr>
      </p:pic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rcRect l="-441" r="-441"/>
          <a:stretch/>
        </p:blipFill>
        <p:spPr>
          <a:xfrm>
            <a:off x="5578754" y="3728923"/>
            <a:ext cx="19202" cy="466344"/>
          </a:xfrm>
          <a:prstGeom prst="rect">
            <a:avLst/>
          </a:prstGeom>
        </p:spPr>
      </p:pic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l="-441" r="-441"/>
          <a:stretch/>
        </p:blipFill>
        <p:spPr>
          <a:xfrm>
            <a:off x="5578754" y="4424782"/>
            <a:ext cx="19202" cy="466344"/>
          </a:xfrm>
          <a:prstGeom prst="rect">
            <a:avLst/>
          </a:prstGeom>
        </p:spPr>
      </p:pic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841602" y="2553005"/>
            <a:ext cx="2095805" cy="2095805"/>
          </a:xfrm>
          <a:prstGeom prst="rect">
            <a:avLst/>
          </a:prstGeom>
        </p:spPr>
      </p:pic>
      <p:sp>
        <p:nvSpPr>
          <p:cNvPr id="33" name="Text 23"/>
          <p:cNvSpPr txBox="1"/>
          <p:nvPr/>
        </p:nvSpPr>
        <p:spPr>
          <a:xfrm>
            <a:off x="1819656" y="2723998"/>
            <a:ext cx="21396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42" dirty="0">
                <a:solidFill>
                  <a:srgbClr val="0F766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2</a:t>
            </a:r>
            <a:endParaRPr lang="en-US" sz="800" dirty="0"/>
          </a:p>
        </p:txBody>
      </p:sp>
      <p:sp>
        <p:nvSpPr>
          <p:cNvPr id="34" name="Text 24"/>
          <p:cNvSpPr txBox="1"/>
          <p:nvPr/>
        </p:nvSpPr>
        <p:spPr>
          <a:xfrm>
            <a:off x="1819656" y="2903220"/>
            <a:ext cx="2139696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948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Indirect Energy (Purchased)</a:t>
            </a:r>
            <a:endParaRPr lang="en-US" sz="800" dirty="0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318004" y="3029407"/>
            <a:ext cx="1143000" cy="1143000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2500884" y="3359506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6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1</a:t>
            </a:r>
            <a:endParaRPr lang="en-US" sz="1200" dirty="0"/>
          </a:p>
        </p:txBody>
      </p:sp>
      <p:sp>
        <p:nvSpPr>
          <p:cNvPr id="37" name="Text 26"/>
          <p:cNvSpPr txBox="1"/>
          <p:nvPr/>
        </p:nvSpPr>
        <p:spPr>
          <a:xfrm>
            <a:off x="2462479" y="3626510"/>
            <a:ext cx="85770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CFC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 Emissions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DCFCE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(Owned Assets)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5473598" y="2266798"/>
            <a:ext cx="228600" cy="228600"/>
          </a:xfrm>
          <a:prstGeom prst="ellipse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28"/>
          <p:cNvSpPr txBox="1"/>
          <p:nvPr/>
        </p:nvSpPr>
        <p:spPr>
          <a:xfrm>
            <a:off x="5445252" y="2266798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800" dirty="0"/>
          </a:p>
        </p:txBody>
      </p:sp>
      <p:sp>
        <p:nvSpPr>
          <p:cNvPr id="40" name="Shape 29"/>
          <p:cNvSpPr/>
          <p:nvPr/>
        </p:nvSpPr>
        <p:spPr>
          <a:xfrm>
            <a:off x="5473598" y="2805379"/>
            <a:ext cx="228600" cy="228600"/>
          </a:xfrm>
          <a:prstGeom prst="ellipse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0"/>
          <p:cNvSpPr txBox="1"/>
          <p:nvPr/>
        </p:nvSpPr>
        <p:spPr>
          <a:xfrm>
            <a:off x="5445252" y="2805379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00" dirty="0"/>
          </a:p>
        </p:txBody>
      </p:sp>
      <p:sp>
        <p:nvSpPr>
          <p:cNvPr id="42" name="Shape 31"/>
          <p:cNvSpPr/>
          <p:nvPr/>
        </p:nvSpPr>
        <p:spPr>
          <a:xfrm>
            <a:off x="5473598" y="3500323"/>
            <a:ext cx="228600" cy="228600"/>
          </a:xfrm>
          <a:prstGeom prst="ellipse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2"/>
          <p:cNvSpPr txBox="1"/>
          <p:nvPr/>
        </p:nvSpPr>
        <p:spPr>
          <a:xfrm>
            <a:off x="5445252" y="3500323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00" dirty="0"/>
          </a:p>
        </p:txBody>
      </p:sp>
      <p:sp>
        <p:nvSpPr>
          <p:cNvPr id="44" name="Shape 33"/>
          <p:cNvSpPr/>
          <p:nvPr/>
        </p:nvSpPr>
        <p:spPr>
          <a:xfrm>
            <a:off x="5473598" y="4196182"/>
            <a:ext cx="228600" cy="228600"/>
          </a:xfrm>
          <a:prstGeom prst="ellipse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4"/>
          <p:cNvSpPr txBox="1"/>
          <p:nvPr/>
        </p:nvSpPr>
        <p:spPr>
          <a:xfrm>
            <a:off x="5445252" y="4196182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</a:t>
            </a:r>
            <a:endParaRPr lang="en-US" sz="800" dirty="0"/>
          </a:p>
        </p:txBody>
      </p:sp>
      <p:sp>
        <p:nvSpPr>
          <p:cNvPr id="46" name="Shape 35"/>
          <p:cNvSpPr/>
          <p:nvPr/>
        </p:nvSpPr>
        <p:spPr>
          <a:xfrm>
            <a:off x="5473598" y="4891126"/>
            <a:ext cx="228600" cy="228600"/>
          </a:xfrm>
          <a:prstGeom prst="ellipse">
            <a:avLst/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Text 36"/>
          <p:cNvSpPr txBox="1"/>
          <p:nvPr/>
        </p:nvSpPr>
        <p:spPr>
          <a:xfrm>
            <a:off x="5445252" y="4891126"/>
            <a:ext cx="286207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</a:t>
            </a:r>
            <a:endParaRPr lang="en-US" sz="800" dirty="0"/>
          </a:p>
        </p:txBody>
      </p:sp>
      <p:sp>
        <p:nvSpPr>
          <p:cNvPr id="48" name="Shape 37"/>
          <p:cNvSpPr/>
          <p:nvPr/>
        </p:nvSpPr>
        <p:spPr>
          <a:xfrm>
            <a:off x="761695" y="6096305"/>
            <a:ext cx="10668305" cy="3813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38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0" name="Text 39"/>
          <p:cNvSpPr txBox="1"/>
          <p:nvPr/>
        </p:nvSpPr>
        <p:spPr>
          <a:xfrm>
            <a:off x="761695" y="6262726"/>
            <a:ext cx="2312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51" name="Text 40"/>
          <p:cNvSpPr txBox="1"/>
          <p:nvPr/>
        </p:nvSpPr>
        <p:spPr>
          <a:xfrm>
            <a:off x="10986516" y="6262726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6</a:t>
            </a:r>
            <a:endParaRPr lang="en-US" sz="900" dirty="0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0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24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69234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DELIVERABLES &amp; IMPACT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399227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Roadmap and Abatement Analysis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113264" y="1181405"/>
            <a:ext cx="1324051" cy="228600"/>
          </a:xfrm>
          <a:prstGeom prst="roundRect">
            <a:avLst>
              <a:gd name="adj" fmla="val 33333"/>
            </a:avLst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6571" y="1181405"/>
            <a:ext cx="13816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BCG CASE STUDY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61695" y="1762049"/>
            <a:ext cx="6791249" cy="2171700"/>
          </a:xfrm>
          <a:prstGeom prst="roundRect">
            <a:avLst>
              <a:gd name="adj" fmla="val 147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3798" y="1923898"/>
            <a:ext cx="638159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MARGINAL ABATEMENT COST CURVE (MACC) </a:t>
            </a:r>
            <a:endParaRPr lang="en-US" sz="9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rcRect l="-4000" r="-4000"/>
          <a:stretch/>
        </p:blipFill>
        <p:spPr>
          <a:xfrm>
            <a:off x="923544" y="1952244"/>
            <a:ext cx="123444" cy="1143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61695" y="4077310"/>
            <a:ext cx="6791249" cy="1638605"/>
          </a:xfrm>
          <a:prstGeom prst="roundRect">
            <a:avLst>
              <a:gd name="adj" fmla="val 259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152144" y="4239158"/>
            <a:ext cx="63532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STRATEGIC ROADMAP HORIZONS 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 l="-3440" r="-3440"/>
          <a:stretch/>
        </p:blipFill>
        <p:spPr>
          <a:xfrm>
            <a:off x="923544" y="4267505"/>
            <a:ext cx="152705" cy="1143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923544" y="4525366"/>
            <a:ext cx="2057400" cy="1028700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16" name="Shape 12"/>
          <p:cNvSpPr/>
          <p:nvPr/>
        </p:nvSpPr>
        <p:spPr>
          <a:xfrm>
            <a:off x="923544" y="4525366"/>
            <a:ext cx="38405" cy="10287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57046" y="4700930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 1: Quick Wins</a:t>
            </a:r>
            <a:endParaRPr lang="en-US" sz="900" dirty="0"/>
          </a:p>
        </p:txBody>
      </p:sp>
      <p:sp>
        <p:nvSpPr>
          <p:cNvPr id="18" name="Text 14"/>
          <p:cNvSpPr txBox="1"/>
          <p:nvPr/>
        </p:nvSpPr>
        <p:spPr>
          <a:xfrm>
            <a:off x="1057046" y="4905756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0–2 Years</a:t>
            </a:r>
            <a:endParaRPr lang="en-US" sz="800" dirty="0"/>
          </a:p>
        </p:txBody>
      </p:sp>
      <p:sp>
        <p:nvSpPr>
          <p:cNvPr id="19" name="Text 15"/>
          <p:cNvSpPr txBox="1"/>
          <p:nvPr/>
        </p:nvSpPr>
        <p:spPr>
          <a:xfrm>
            <a:off x="1057046" y="5138928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 on efficiency, behavior change, and low-capex retrofits.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3129077" y="4525366"/>
            <a:ext cx="2057400" cy="1028700"/>
          </a:xfrm>
          <a:prstGeom prst="rect">
            <a:avLst/>
          </a:prstGeom>
          <a:solidFill>
            <a:srgbClr val="F0FDF4"/>
          </a:solidFill>
          <a:ln/>
        </p:spPr>
      </p:sp>
      <p:sp>
        <p:nvSpPr>
          <p:cNvPr id="21" name="Shape 17"/>
          <p:cNvSpPr/>
          <p:nvPr/>
        </p:nvSpPr>
        <p:spPr>
          <a:xfrm>
            <a:off x="3129077" y="4525366"/>
            <a:ext cx="38405" cy="10287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261665" y="4700930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 2: Scaling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3261665" y="4905756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2–5 Years</a:t>
            </a:r>
            <a:endParaRPr lang="en-US" sz="800" dirty="0"/>
          </a:p>
        </p:txBody>
      </p:sp>
      <p:sp>
        <p:nvSpPr>
          <p:cNvPr id="24" name="Text 20"/>
          <p:cNvSpPr txBox="1"/>
          <p:nvPr/>
        </p:nvSpPr>
        <p:spPr>
          <a:xfrm>
            <a:off x="3261665" y="5138928"/>
            <a:ext cx="1901952" cy="2386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Systemic upgrades, fleet electrification, and renewables integration.</a:t>
            </a:r>
            <a:endParaRPr lang="en-US" sz="800" dirty="0"/>
          </a:p>
        </p:txBody>
      </p:sp>
      <p:sp>
        <p:nvSpPr>
          <p:cNvPr id="25" name="Shape 21"/>
          <p:cNvSpPr/>
          <p:nvPr/>
        </p:nvSpPr>
        <p:spPr>
          <a:xfrm>
            <a:off x="5333695" y="4525366"/>
            <a:ext cx="2057400" cy="10287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26" name="Shape 22"/>
          <p:cNvSpPr/>
          <p:nvPr/>
        </p:nvSpPr>
        <p:spPr>
          <a:xfrm>
            <a:off x="5333695" y="4525366"/>
            <a:ext cx="38405" cy="1028700"/>
          </a:xfrm>
          <a:prstGeom prst="rect">
            <a:avLst/>
          </a:prstGeom>
          <a:solidFill>
            <a:srgbClr val="044738"/>
          </a:solidFill>
          <a:ln w="12700">
            <a:solidFill>
              <a:srgbClr val="044738">
                <a:alpha val="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467198" y="4641494"/>
            <a:ext cx="19056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F172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Horizon 3: Transform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5467198" y="4846320"/>
            <a:ext cx="19056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5+ Years</a:t>
            </a:r>
            <a:endParaRPr lang="en-US" sz="800" dirty="0"/>
          </a:p>
        </p:txBody>
      </p:sp>
      <p:sp>
        <p:nvSpPr>
          <p:cNvPr id="29" name="Text 25"/>
          <p:cNvSpPr txBox="1"/>
          <p:nvPr/>
        </p:nvSpPr>
        <p:spPr>
          <a:xfrm>
            <a:off x="5467198" y="5079492"/>
            <a:ext cx="1901952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Deep decarbonization technologies (Hydrogen, CCUS) and business model shifts.</a:t>
            </a:r>
            <a:endParaRPr lang="en-US" sz="800" dirty="0"/>
          </a:p>
        </p:txBody>
      </p:sp>
      <p:sp>
        <p:nvSpPr>
          <p:cNvPr id="30" name="Text 26"/>
          <p:cNvSpPr txBox="1"/>
          <p:nvPr/>
        </p:nvSpPr>
        <p:spPr>
          <a:xfrm>
            <a:off x="7976311" y="1762049"/>
            <a:ext cx="357164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64748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PROJECT DELIVERABLES </a:t>
            </a:r>
            <a:endParaRPr lang="en-US" sz="900" dirty="0"/>
          </a:p>
        </p:txBody>
      </p:sp>
      <p:pic>
        <p:nvPicPr>
          <p:cNvPr id="31" name="Image 2" descr="preencoded.png"/>
          <p:cNvPicPr>
            <a:picLocks noChangeAspect="1"/>
          </p:cNvPicPr>
          <p:nvPr/>
        </p:nvPicPr>
        <p:blipFill>
          <a:blip r:embed="rId5"/>
          <a:srcRect l="-4000" r="-4000"/>
          <a:stretch/>
        </p:blipFill>
        <p:spPr>
          <a:xfrm>
            <a:off x="7776058" y="1790395"/>
            <a:ext cx="123444" cy="114300"/>
          </a:xfrm>
          <a:prstGeom prst="rect">
            <a:avLst/>
          </a:prstGeom>
        </p:spPr>
      </p:pic>
      <p:sp>
        <p:nvSpPr>
          <p:cNvPr id="32" name="Shape 27"/>
          <p:cNvSpPr/>
          <p:nvPr/>
        </p:nvSpPr>
        <p:spPr>
          <a:xfrm>
            <a:off x="7776058" y="2048256"/>
            <a:ext cx="3657600" cy="828446"/>
          </a:xfrm>
          <a:prstGeom prst="roundRect">
            <a:avLst>
              <a:gd name="adj" fmla="val 7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900416" y="2200046"/>
            <a:ext cx="133502" cy="133502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8090611" y="2171700"/>
            <a:ext cx="182514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 Baseline &amp; Hotspots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7900416" y="2438705"/>
            <a:ext cx="3486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inventory of Scope 1, 2 &amp; 3 emissions identifying major reduction opportunities across the value chain.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7776058" y="3948379"/>
            <a:ext cx="3657600" cy="828446"/>
          </a:xfrm>
          <a:prstGeom prst="roundRect">
            <a:avLst>
              <a:gd name="adj" fmla="val 7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900416" y="4100170"/>
            <a:ext cx="133502" cy="133502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8090611" y="4071823"/>
            <a:ext cx="14740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Transition Risk Scan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900416" y="4338828"/>
            <a:ext cx="3486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 of regulatory and market risks under 1.5°C and NZE climate scenarios affecting business continuity.</a:t>
            </a:r>
            <a:endParaRPr lang="en-US" sz="800" dirty="0"/>
          </a:p>
        </p:txBody>
      </p:sp>
      <p:sp>
        <p:nvSpPr>
          <p:cNvPr id="40" name="Shape 33"/>
          <p:cNvSpPr/>
          <p:nvPr/>
        </p:nvSpPr>
        <p:spPr>
          <a:xfrm>
            <a:off x="7776058" y="4888382"/>
            <a:ext cx="3657600" cy="828446"/>
          </a:xfrm>
          <a:prstGeom prst="roundRect">
            <a:avLst>
              <a:gd name="adj" fmla="val 76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900416" y="5041087"/>
            <a:ext cx="133502" cy="133502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8090611" y="5012741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Prioritized Roadmap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7900416" y="5278831"/>
            <a:ext cx="3486607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plan weighted by impact, feasibility, and ROI to guide long-term decarbonization efforts.</a:t>
            </a:r>
            <a:endParaRPr lang="en-US" sz="800" dirty="0"/>
          </a:p>
        </p:txBody>
      </p:sp>
      <p:pic>
        <p:nvPicPr>
          <p:cNvPr id="44" name="Image 6" descr="preencoded.png"/>
          <p:cNvPicPr>
            <a:picLocks noChangeAspect="1"/>
          </p:cNvPicPr>
          <p:nvPr/>
        </p:nvPicPr>
        <p:blipFill>
          <a:blip r:embed="rId9"/>
          <a:srcRect t="-222" b="-222"/>
          <a:stretch/>
        </p:blipFill>
        <p:spPr>
          <a:xfrm>
            <a:off x="923544" y="2210105"/>
            <a:ext cx="6467551" cy="1561795"/>
          </a:xfrm>
          <a:prstGeom prst="rect">
            <a:avLst/>
          </a:prstGeom>
        </p:spPr>
      </p:pic>
      <p:sp>
        <p:nvSpPr>
          <p:cNvPr id="45" name="Shape 36"/>
          <p:cNvSpPr/>
          <p:nvPr/>
        </p:nvSpPr>
        <p:spPr>
          <a:xfrm>
            <a:off x="7776058" y="2988259"/>
            <a:ext cx="3657600" cy="847649"/>
          </a:xfrm>
          <a:prstGeom prst="roundRect">
            <a:avLst>
              <a:gd name="adj" fmla="val 7272"/>
            </a:avLst>
          </a:prstGeom>
          <a:solidFill>
            <a:srgbClr val="F0FDF4"/>
          </a:solidFill>
          <a:ln w="25400">
            <a:solidFill>
              <a:srgbClr val="044738"/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0589666" y="2912364"/>
            <a:ext cx="687629" cy="166421"/>
          </a:xfrm>
          <a:prstGeom prst="roundRect">
            <a:avLst>
              <a:gd name="adj" fmla="val 125589"/>
            </a:avLst>
          </a:prstGeom>
          <a:solidFill>
            <a:srgbClr val="0447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909560" y="3150108"/>
            <a:ext cx="133502" cy="133502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8099755" y="3121762"/>
            <a:ext cx="168889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MACC &amp; Business Case</a:t>
            </a:r>
            <a:endParaRPr lang="en-US" sz="1000" dirty="0"/>
          </a:p>
        </p:txBody>
      </p:sp>
      <p:sp>
        <p:nvSpPr>
          <p:cNvPr id="49" name="Text 39"/>
          <p:cNvSpPr txBox="1"/>
          <p:nvPr/>
        </p:nvSpPr>
        <p:spPr>
          <a:xfrm>
            <a:off x="7909560" y="3388766"/>
            <a:ext cx="346740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MACC prioritizing levers by cost-efficiency ($/tCO2e) with associated CAPEX requirements and ROI analysis.</a:t>
            </a:r>
            <a:endParaRPr lang="en-US" sz="800" dirty="0"/>
          </a:p>
        </p:txBody>
      </p:sp>
      <p:sp>
        <p:nvSpPr>
          <p:cNvPr id="50" name="Shape 40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1" name="Text 41"/>
          <p:cNvSpPr txBox="1"/>
          <p:nvPr/>
        </p:nvSpPr>
        <p:spPr>
          <a:xfrm>
            <a:off x="761695" y="6262726"/>
            <a:ext cx="23125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10986516" y="6262726"/>
            <a:ext cx="52395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7</a:t>
            </a:r>
            <a:endParaRPr lang="en-US" sz="9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5000"/>
          </a:blip>
          <a:srcRect t="-4053" b="-4053"/>
          <a:stretch/>
        </p:blipFill>
        <p:spPr>
          <a:xfrm>
            <a:off x="8715146" y="3933749"/>
            <a:ext cx="4086454" cy="35341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61695" y="761695"/>
            <a:ext cx="10782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SUSTAINABLE FINANCE SIMULATION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685800" cy="381305"/>
          </a:xfrm>
          <a:prstGeom prst="roundRect">
            <a:avLst>
              <a:gd name="adj" fmla="val 23981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" y="1218895"/>
            <a:ext cx="743407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ACCA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rcRect t="-2083" b="-2083"/>
          <a:stretch/>
        </p:blipFill>
        <p:spPr>
          <a:xfrm>
            <a:off x="1596542" y="1295705"/>
            <a:ext cx="9144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758391" y="1276502"/>
            <a:ext cx="287944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Sustainable Banking Practice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752905"/>
            <a:ext cx="870600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Sustainability-Linked Finance 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90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&amp; ESG Due Diligence</a:t>
            </a:r>
            <a:endParaRPr lang="en-US" sz="3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l="-2083" r="-2083"/>
          <a:stretch/>
        </p:blipFill>
        <p:spPr>
          <a:xfrm>
            <a:off x="761695" y="3276295"/>
            <a:ext cx="10668305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61695" y="3590849"/>
            <a:ext cx="38405" cy="2286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14400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Context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3933749"/>
            <a:ext cx="3381451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risk assessment and Sustainability-Linked Loan (SLL) structuring for a major palm oil producer facing supply chain scrutiny.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44898" y="3590849"/>
            <a:ext cx="38405" cy="2286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7603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&amp; Focus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25950" y="3933749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Role: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ESG Due Diligence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3972154"/>
            <a:ext cx="105156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25950" y="420075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&amp; SPT Design for SLL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4238244"/>
            <a:ext cx="105156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25950" y="446684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Reporting Governance &amp; Audit Scope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6"/>
          <a:srcRect t="-13533" b="-13533"/>
          <a:stretch/>
        </p:blipFill>
        <p:spPr>
          <a:xfrm>
            <a:off x="4444898" y="4505249"/>
            <a:ext cx="105156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28102" y="3590849"/>
            <a:ext cx="38405" cy="228600"/>
          </a:xfrm>
          <a:prstGeom prst="rect">
            <a:avLst/>
          </a:prstGeom>
          <a:solidFill>
            <a:srgbClr val="991B1B"/>
          </a:solidFill>
          <a:ln w="12700">
            <a:solidFill>
              <a:srgbClr val="991B1B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280806" y="35908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128102" y="3933749"/>
            <a:ext cx="1028700" cy="286207"/>
          </a:xfrm>
          <a:prstGeom prst="rect">
            <a:avLst/>
          </a:prstGeom>
          <a:solidFill>
            <a:srgbClr val="FEE2E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205265" y="3981298"/>
            <a:ext cx="107899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November 2025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128102" y="4295851"/>
            <a:ext cx="341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*Simulated engagement via ACCA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76127" y="626272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8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572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CONTEXT &amp; OBJECTIVES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40910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Palm Oil Value Chain Challenges &amp; SLL Goals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139428" y="1257300"/>
            <a:ext cx="229331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ACCA SUSTAINABILITY BANKING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2143354"/>
            <a:ext cx="4190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1876349"/>
            <a:ext cx="4267505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Situation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61695" y="2305202"/>
            <a:ext cx="4190695" cy="3362249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26497" b="-26497"/>
          <a:stretch/>
        </p:blipFill>
        <p:spPr>
          <a:xfrm>
            <a:off x="1028700" y="2878531"/>
            <a:ext cx="152705" cy="2670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5705" y="2878531"/>
            <a:ext cx="256214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Deforestation &amp; Traceability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28700" y="3221431"/>
            <a:ext cx="3771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palm oil sector faces critical scrutiny over deforestation risks, NDPE non-compliance, and complex supply chain traceability gaps.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6042" b="-26042"/>
          <a:stretch/>
        </p:blipFill>
        <p:spPr>
          <a:xfrm>
            <a:off x="1028700" y="4100170"/>
            <a:ext cx="219456" cy="267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62456" y="4100170"/>
            <a:ext cx="18818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&amp; Labor Risks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28700" y="4443070"/>
            <a:ext cx="3771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 exposure to labor rights violations (forced labor) and community land disputes requires rigorous due diligence and mitigation.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562295" y="2143354"/>
            <a:ext cx="58677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562295" y="1876349"/>
            <a:ext cx="59436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Objectives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2305202"/>
            <a:ext cx="5867705" cy="11384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734202" y="2505456"/>
            <a:ext cx="514807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409944" y="2505456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Due Diligence (E/S/G)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9944" y="2809951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comprehensive risk assessment across Environmental (deforestation), Social (labor rights), and Governance (transparency) dimensions.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3595421"/>
            <a:ext cx="5867705" cy="113842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734202" y="3795674"/>
            <a:ext cx="514807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409944" y="3795674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SLL KPIs &amp; SPTs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9944" y="4100170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 Sustainability-Linked Loan mechanisms with ambitious Key Performance Indicators and Sustainability Performance Targets.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4886554"/>
            <a:ext cx="5867705" cy="113842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734202" y="5086807"/>
            <a:ext cx="514807" cy="457200"/>
          </a:xfrm>
          <a:prstGeom prst="rect">
            <a:avLst/>
          </a:prstGeom>
          <a:solidFill>
            <a:srgbClr val="FEF2F2"/>
          </a:solidFill>
          <a:ln w="12700">
            <a:solidFill>
              <a:srgbClr val="FEE2E2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C262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6409944" y="5086807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Governance &amp; Audit Scope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409944" y="5391302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Establish internal control frameworks and audit scopes to ensure data integrity for emissions and sustainability reporting.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076127" y="6262726"/>
            <a:ext cx="4389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9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51919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DUE DILIGENCE FRAMEWORK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57634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Qualitative Risk Assessment – Palm Oil Value Chain Due Diligence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2642" y="1257300"/>
            <a:ext cx="12710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ACCA SIMULATION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1800454"/>
            <a:ext cx="3448202" cy="1009498"/>
          </a:xfrm>
          <a:prstGeom prst="roundRect">
            <a:avLst>
              <a:gd name="adj" fmla="val 5127"/>
            </a:avLst>
          </a:prstGeom>
          <a:solidFill>
            <a:srgbClr val="F0FDF4"/>
          </a:solidFill>
          <a:ln/>
        </p:spPr>
      </p:sp>
      <p:sp>
        <p:nvSpPr>
          <p:cNvPr id="9" name="Shape 7"/>
          <p:cNvSpPr/>
          <p:nvPr/>
        </p:nvSpPr>
        <p:spPr>
          <a:xfrm>
            <a:off x="761695" y="1800454"/>
            <a:ext cx="38405" cy="1009498"/>
          </a:xfrm>
          <a:prstGeom prst="roundRect">
            <a:avLst>
              <a:gd name="adj" fmla="val 134770"/>
            </a:avLst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14400" y="1933956"/>
            <a:ext cx="152705" cy="1527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43000" y="1914754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 Risks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04595" y="2143354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Deforestation &amp; NDPE Compliance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4595" y="2338121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 Emissions (Land Use Change)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04595" y="2533802"/>
            <a:ext cx="355427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Use &amp; Effluent Management (Limited Disclosure)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761695" y="3255264"/>
            <a:ext cx="3448202" cy="1009498"/>
          </a:xfrm>
          <a:prstGeom prst="roundRect">
            <a:avLst>
              <a:gd name="adj" fmla="val 5127"/>
            </a:avLst>
          </a:prstGeom>
          <a:solidFill>
            <a:srgbClr val="FEF2F2"/>
          </a:solidFill>
          <a:ln/>
        </p:spPr>
      </p:sp>
      <p:sp>
        <p:nvSpPr>
          <p:cNvPr id="16" name="Shape 13"/>
          <p:cNvSpPr/>
          <p:nvPr/>
        </p:nvSpPr>
        <p:spPr>
          <a:xfrm>
            <a:off x="761695" y="3255264"/>
            <a:ext cx="38405" cy="1009498"/>
          </a:xfrm>
          <a:prstGeom prst="roundRect">
            <a:avLst>
              <a:gd name="adj" fmla="val 134770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14400" y="3388766"/>
            <a:ext cx="190195" cy="152705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181405" y="3369564"/>
            <a:ext cx="87325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991B1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Risks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104595" y="3598164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Forced Labor &amp; Child Labor Exposure</a:t>
            </a:r>
            <a:endParaRPr lang="en-US" sz="900" dirty="0"/>
          </a:p>
        </p:txBody>
      </p:sp>
      <p:sp>
        <p:nvSpPr>
          <p:cNvPr id="20" name="Text 16"/>
          <p:cNvSpPr txBox="1"/>
          <p:nvPr/>
        </p:nvSpPr>
        <p:spPr>
          <a:xfrm>
            <a:off x="1104595" y="3792931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Smallholder Inclusion &amp; Traceability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1104595" y="3988613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Community Land Disputes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761695" y="4710074"/>
            <a:ext cx="3448202" cy="1009498"/>
          </a:xfrm>
          <a:prstGeom prst="roundRect">
            <a:avLst>
              <a:gd name="adj" fmla="val 5127"/>
            </a:avLst>
          </a:prstGeom>
          <a:solidFill>
            <a:srgbClr val="EFF6FF"/>
          </a:solidFill>
          <a:ln/>
        </p:spPr>
      </p:sp>
      <p:sp>
        <p:nvSpPr>
          <p:cNvPr id="23" name="Shape 19"/>
          <p:cNvSpPr/>
          <p:nvPr/>
        </p:nvSpPr>
        <p:spPr>
          <a:xfrm>
            <a:off x="761695" y="4710074"/>
            <a:ext cx="38405" cy="1009498"/>
          </a:xfrm>
          <a:prstGeom prst="roundRect">
            <a:avLst>
              <a:gd name="adj" fmla="val 13477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rcRect t="-180" b="-180"/>
          <a:stretch/>
        </p:blipFill>
        <p:spPr>
          <a:xfrm>
            <a:off x="914400" y="4843577"/>
            <a:ext cx="190195" cy="15270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181405" y="4824374"/>
            <a:ext cx="129296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Risks</a:t>
            </a:r>
            <a:endParaRPr lang="en-US" sz="1000" dirty="0"/>
          </a:p>
        </p:txBody>
      </p:sp>
      <p:sp>
        <p:nvSpPr>
          <p:cNvPr id="26" name="Text 21"/>
          <p:cNvSpPr txBox="1"/>
          <p:nvPr/>
        </p:nvSpPr>
        <p:spPr>
          <a:xfrm>
            <a:off x="1104595" y="5052974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Chain Traceability Gaps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04595" y="5248656"/>
            <a:ext cx="340614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Human Rights Grievance Handling (Limited Detail)</a:t>
            </a:r>
            <a:endParaRPr lang="en-US" sz="900" dirty="0"/>
          </a:p>
        </p:txBody>
      </p:sp>
      <p:sp>
        <p:nvSpPr>
          <p:cNvPr id="28" name="Text 23"/>
          <p:cNvSpPr txBox="1"/>
          <p:nvPr/>
        </p:nvSpPr>
        <p:spPr>
          <a:xfrm>
            <a:off x="1104595" y="5443423"/>
            <a:ext cx="3105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Transparency &amp; Disclosure Gaps</a:t>
            </a:r>
            <a:endParaRPr lang="en-US" sz="9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rcRect l="-6" r="-6"/>
          <a:stretch/>
        </p:blipFill>
        <p:spPr>
          <a:xfrm>
            <a:off x="4515307" y="1800454"/>
            <a:ext cx="6915607" cy="3914546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4581144" y="1923898"/>
            <a:ext cx="67821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Materiality Risk Heatmap (Likelihood × Impact)</a:t>
            </a:r>
            <a:endParaRPr lang="en-US" sz="9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3" r="-3"/>
          <a:stretch/>
        </p:blipFill>
        <p:spPr>
          <a:xfrm>
            <a:off x="4638751" y="2115007"/>
            <a:ext cx="6667805" cy="3476549"/>
          </a:xfrm>
          <a:prstGeom prst="rect">
            <a:avLst/>
          </a:prstGeom>
        </p:spPr>
      </p:pic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rcRect t="-9" b="-9"/>
          <a:stretch/>
        </p:blipFill>
        <p:spPr>
          <a:xfrm>
            <a:off x="4638751" y="4953305"/>
            <a:ext cx="1875434" cy="638251"/>
          </a:xfrm>
          <a:prstGeom prst="rect">
            <a:avLst/>
          </a:prstGeom>
        </p:spPr>
      </p:pic>
      <p:sp>
        <p:nvSpPr>
          <p:cNvPr id="33" name="Shape 25"/>
          <p:cNvSpPr/>
          <p:nvPr/>
        </p:nvSpPr>
        <p:spPr>
          <a:xfrm>
            <a:off x="4724705" y="5072177"/>
            <a:ext cx="75895" cy="75895"/>
          </a:xfrm>
          <a:prstGeom prst="ellipse">
            <a:avLst/>
          </a:prstGeom>
          <a:solidFill>
            <a:srgbClr val="22C5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4876495" y="5038344"/>
            <a:ext cx="145115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Risk (Governance Gaps)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4724705" y="5234026"/>
            <a:ext cx="75895" cy="75895"/>
          </a:xfrm>
          <a:prstGeom prst="ellipse">
            <a:avLst/>
          </a:prstGeom>
          <a:solidFill>
            <a:srgbClr val="EAB30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4876495" y="5201107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Medium Risk (Operational Exposure)</a:t>
            </a:r>
            <a:endParaRPr lang="en-US" sz="800" dirty="0"/>
          </a:p>
        </p:txBody>
      </p:sp>
      <p:sp>
        <p:nvSpPr>
          <p:cNvPr id="37" name="Shape 29"/>
          <p:cNvSpPr/>
          <p:nvPr/>
        </p:nvSpPr>
        <p:spPr>
          <a:xfrm>
            <a:off x="4724705" y="5395874"/>
            <a:ext cx="75895" cy="75895"/>
          </a:xfrm>
          <a:prstGeom prst="ellipse">
            <a:avLst/>
          </a:prstGeom>
          <a:solidFill>
            <a:srgbClr val="DC262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4876495" y="5362956"/>
            <a:ext cx="18480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Critical Risk (Systemic/Reputational)</a:t>
            </a:r>
            <a:endParaRPr lang="en-US" sz="800" dirty="0"/>
          </a:p>
        </p:txBody>
      </p:sp>
      <p:sp>
        <p:nvSpPr>
          <p:cNvPr id="39" name="Shape 31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41" name="Text 33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10</a:t>
            </a:r>
            <a:endParaRPr lang="en-US" sz="9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61914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B91C1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ILLUSTRATIVE SLL KPI &amp; SPT DESIGN LOGIC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56199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Conceptual Process Flow – From Risk to Verification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2642" y="1257300"/>
            <a:ext cx="127101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ACCA SIMULATION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5480914"/>
            <a:ext cx="106683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5565953"/>
            <a:ext cx="10782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*Illustrative SLL KPI &amp; SPT design based on ACCA simulation. No finalized targets, pricing, or loan structuring.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761695" y="1800454"/>
            <a:ext cx="1952244" cy="353415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1695" y="1800454"/>
            <a:ext cx="1952244" cy="38405"/>
          </a:xfrm>
          <a:prstGeom prst="roundRect">
            <a:avLst>
              <a:gd name="adj" fmla="val 4645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79269" y="1742846"/>
            <a:ext cx="267005" cy="19111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86054" y="2400300"/>
            <a:ext cx="1705356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054" y="1952244"/>
            <a:ext cx="1773936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 ESG Risks Identified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886054" y="2503627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Deforestation &amp; NDPE compliance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86054" y="2899562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Labor rights &amp; community land risks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86054" y="3295498"/>
            <a:ext cx="2029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Supply chain traceability gaps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941625" y="1800454"/>
            <a:ext cx="1952244" cy="353415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41625" y="1800454"/>
            <a:ext cx="1952244" cy="38405"/>
          </a:xfrm>
          <a:prstGeom prst="roundRect">
            <a:avLst>
              <a:gd name="adj" fmla="val 4645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58284" y="1742846"/>
            <a:ext cx="267005" cy="19111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065069" y="2400300"/>
            <a:ext cx="1705356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65069" y="1952244"/>
            <a:ext cx="1773936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KPI Selection Principles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65069" y="2503627"/>
            <a:ext cx="2029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Materiality assessment linkage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065069" y="2739542"/>
            <a:ext cx="2029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Additionality (impact driven)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3065069" y="2975458"/>
            <a:ext cx="2029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availability &amp; verifiability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120640" y="1800454"/>
            <a:ext cx="1952244" cy="353415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1800454"/>
            <a:ext cx="1952244" cy="38405"/>
          </a:xfrm>
          <a:prstGeom prst="roundRect">
            <a:avLst>
              <a:gd name="adj" fmla="val 4645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738214" y="1742846"/>
            <a:ext cx="267005" cy="19111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44084" y="2400300"/>
            <a:ext cx="1705356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244084" y="1952244"/>
            <a:ext cx="1773936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Illustrative KPI Categories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5244084" y="2503627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Environmental: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NDPE, Scope 1 &amp; 2, methane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5244084" y="2899562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Social: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Smallholder inclusion, labor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5244084" y="3295498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Governance: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Traceability, transparency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299655" y="1800454"/>
            <a:ext cx="1952244" cy="353415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99655" y="1800454"/>
            <a:ext cx="1952244" cy="38405"/>
          </a:xfrm>
          <a:prstGeom prst="roundRect">
            <a:avLst>
              <a:gd name="adj" fmla="val 4645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17229" y="1742846"/>
            <a:ext cx="267005" cy="19111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7424014" y="2210105"/>
            <a:ext cx="1705356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424014" y="1952244"/>
            <a:ext cx="1773936" cy="2002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SPT Calibration Logic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7424014" y="2308860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Directional improvement vs current practices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7424014" y="2704795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Ambition beyond business-as-usual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7424014" y="3101645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Informed by peer benchmarks where data exists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9479585" y="1800454"/>
            <a:ext cx="1952244" cy="3534156"/>
          </a:xfrm>
          <a:prstGeom prst="roundRect">
            <a:avLst>
              <a:gd name="adj" fmla="val 91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479585" y="1800454"/>
            <a:ext cx="1952244" cy="38405"/>
          </a:xfrm>
          <a:prstGeom prst="roundRect">
            <a:avLst>
              <a:gd name="adj" fmla="val 46457"/>
            </a:avLst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1096244" y="1742846"/>
            <a:ext cx="267005" cy="191110"/>
          </a:xfrm>
          <a:prstGeom prst="rect">
            <a:avLst/>
          </a:prstGeom>
          <a:solidFill>
            <a:srgbClr val="FEF2F2"/>
          </a:solidFill>
          <a:ln w="12700">
            <a:solidFill>
              <a:srgbClr val="FECAC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603029" y="2400300"/>
            <a:ext cx="1705356" cy="9144"/>
          </a:xfrm>
          <a:prstGeom prst="rect">
            <a:avLst/>
          </a:prstGeom>
          <a:solidFill>
            <a:srgbClr val="FECACA"/>
          </a:solidFill>
          <a:ln w="12700">
            <a:solidFill>
              <a:srgbClr val="FECACA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603029" y="1952244"/>
            <a:ext cx="1773936" cy="390449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B91C1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Verification &amp; Audit Scope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9603029" y="2503627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Public disclosures &amp; certifications (e.g. RSPO)</a:t>
            </a:r>
            <a:endParaRPr lang="en-US" sz="900" dirty="0"/>
          </a:p>
        </p:txBody>
      </p:sp>
      <p:sp>
        <p:nvSpPr>
          <p:cNvPr id="48" name="Text 46"/>
          <p:cNvSpPr txBox="1"/>
          <p:nvPr/>
        </p:nvSpPr>
        <p:spPr>
          <a:xfrm>
            <a:off x="9603029" y="2899562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Independent third-party verification (conceptual)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9603029" y="3295498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Internal audit scope for ESG data reliability</a:t>
            </a:r>
            <a:endParaRPr lang="en-US" sz="900" dirty="0"/>
          </a:p>
        </p:txBody>
      </p:sp>
      <p:pic>
        <p:nvPicPr>
          <p:cNvPr id="50" name="Image 0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2779776" y="3473806"/>
            <a:ext cx="161849" cy="181051"/>
          </a:xfrm>
          <a:prstGeom prst="rect">
            <a:avLst/>
          </a:prstGeom>
        </p:spPr>
      </p:pic>
      <p:pic>
        <p:nvPicPr>
          <p:cNvPr id="51" name="Image 1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4958791" y="3473806"/>
            <a:ext cx="161849" cy="181051"/>
          </a:xfrm>
          <a:prstGeom prst="rect">
            <a:avLst/>
          </a:prstGeom>
        </p:spPr>
      </p:pic>
      <p:pic>
        <p:nvPicPr>
          <p:cNvPr id="52" name="Image 2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7137806" y="3473806"/>
            <a:ext cx="161849" cy="181051"/>
          </a:xfrm>
          <a:prstGeom prst="rect">
            <a:avLst/>
          </a:prstGeom>
        </p:spPr>
      </p:pic>
      <p:pic>
        <p:nvPicPr>
          <p:cNvPr id="53" name="Image 3" descr="preencoded.png"/>
          <p:cNvPicPr>
            <a:picLocks noChangeAspect="1"/>
          </p:cNvPicPr>
          <p:nvPr/>
        </p:nvPicPr>
        <p:blipFill>
          <a:blip r:embed="rId3"/>
          <a:srcRect l="-1082" r="-1082"/>
          <a:stretch/>
        </p:blipFill>
        <p:spPr>
          <a:xfrm>
            <a:off x="9316822" y="3473806"/>
            <a:ext cx="161849" cy="181051"/>
          </a:xfrm>
          <a:prstGeom prst="rect">
            <a:avLst/>
          </a:prstGeom>
        </p:spPr>
      </p:pic>
      <p:sp>
        <p:nvSpPr>
          <p:cNvPr id="54" name="Shape 48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5" name="Text 49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56" name="Text 50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11</a:t>
            </a:r>
            <a:endParaRPr lang="en-US" sz="900" dirty="0"/>
          </a:p>
        </p:txBody>
      </p:sp>
      <p:pic>
        <p:nvPicPr>
          <p:cNvPr id="57" name="Image 4" descr="preencoded.png"/>
          <p:cNvPicPr>
            <a:picLocks noChangeAspect="1"/>
          </p:cNvPicPr>
          <p:nvPr/>
        </p:nvPicPr>
        <p:blipFill>
          <a:blip r:embed="rId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61695" y="761695"/>
            <a:ext cx="10782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CASE STUDY: DIGITAL TRANSFORMATION SIMULATION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761695" y="1218895"/>
            <a:ext cx="552298" cy="381305"/>
          </a:xfrm>
          <a:prstGeom prst="roundRect">
            <a:avLst>
              <a:gd name="adj" fmla="val 23981"/>
            </a:avLst>
          </a:prstGeom>
          <a:solidFill>
            <a:srgbClr val="111827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61695" y="1218895"/>
            <a:ext cx="6099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TCS</a:t>
            </a:r>
            <a:endParaRPr lang="en-US" sz="13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rcRect t="-2083" b="-2083"/>
          <a:stretch/>
        </p:blipFill>
        <p:spPr>
          <a:xfrm>
            <a:off x="1464869" y="1295705"/>
            <a:ext cx="9144" cy="228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26718" y="1276502"/>
            <a:ext cx="286847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Sustainability Practice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761695" y="1752905"/>
            <a:ext cx="8706002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kern="0" spc="-90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ESG Gap Assessment &amp; </a:t>
            </a:r>
            <a:endParaRPr lang="en-US" sz="3600" dirty="0"/>
          </a:p>
          <a:p>
            <a:pPr marL="0" indent="0" algn="l">
              <a:buNone/>
            </a:pPr>
            <a:r>
              <a:rPr lang="en-US" sz="3600" b="1" kern="0" spc="-90" dirty="0">
                <a:solidFill>
                  <a:srgbClr val="2563E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Digital Sustainability Solution Mapping</a:t>
            </a:r>
            <a:endParaRPr lang="en-US" sz="36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rcRect l="-2083" r="-2083"/>
          <a:stretch/>
        </p:blipFill>
        <p:spPr>
          <a:xfrm>
            <a:off x="761695" y="3847795"/>
            <a:ext cx="10668305" cy="9144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761695" y="4162349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914400" y="41623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Client Context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761695" y="4505249"/>
            <a:ext cx="3381451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 assessment for a higher-education institution facing operational challenges in energy efficiency, building management, water usage, and climate resilience.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444898" y="4162349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597603" y="41623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&amp; Focus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4625950" y="4505249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Role:</a:t>
            </a: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Digital ESG Analyst</a:t>
            </a:r>
            <a:endParaRPr lang="en-US" sz="120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5"/>
          <a:srcRect t="-13533" b="-13533"/>
          <a:stretch/>
        </p:blipFill>
        <p:spPr>
          <a:xfrm>
            <a:off x="4444898" y="4543654"/>
            <a:ext cx="105156" cy="15270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625950" y="4772254"/>
            <a:ext cx="323880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Capability Gap Assessment</a:t>
            </a:r>
            <a:endParaRPr lang="en-US" sz="120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rcRect t="-13533" b="-13533"/>
          <a:stretch/>
        </p:blipFill>
        <p:spPr>
          <a:xfrm>
            <a:off x="4444898" y="4809744"/>
            <a:ext cx="105156" cy="152705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4625950" y="5038344"/>
            <a:ext cx="349940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Mapping &amp; Comparative Analysis</a:t>
            </a:r>
            <a:endParaRPr lang="en-US" sz="120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5"/>
          <a:srcRect t="-13533" b="-13533"/>
          <a:stretch/>
        </p:blipFill>
        <p:spPr>
          <a:xfrm>
            <a:off x="4444898" y="5076749"/>
            <a:ext cx="105156" cy="152705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8128102" y="4162349"/>
            <a:ext cx="38405" cy="2286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4" name="Text 16"/>
          <p:cNvSpPr txBox="1"/>
          <p:nvPr/>
        </p:nvSpPr>
        <p:spPr>
          <a:xfrm>
            <a:off x="8280806" y="4162349"/>
            <a:ext cx="3267151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30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Status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8128102" y="4505249"/>
            <a:ext cx="1028700" cy="286207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Completed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205265" y="4552798"/>
            <a:ext cx="97566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October 2025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8128102" y="4867351"/>
            <a:ext cx="34198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*Simulated engagement via Forage</a:t>
            </a:r>
            <a:endParaRPr lang="en-US" sz="900" dirty="0"/>
          </a:p>
        </p:txBody>
      </p:sp>
      <p:sp>
        <p:nvSpPr>
          <p:cNvPr id="28" name="Shape 20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12</a:t>
            </a:r>
            <a:endParaRPr lang="en-US" sz="900" dirty="0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6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4000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 &amp; APPROACH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45720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Inefficiencies &amp; Digital Capability Gaps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3556" y="1257300"/>
            <a:ext cx="12664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TCS DIGITAL ESG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2143354"/>
            <a:ext cx="419069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61695" y="1876349"/>
            <a:ext cx="4267505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Challenge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t="-3" b="-3"/>
          <a:stretch/>
        </p:blipFill>
        <p:spPr>
          <a:xfrm>
            <a:off x="761695" y="2305202"/>
            <a:ext cx="4190695" cy="3362249"/>
          </a:xfrm>
          <a:prstGeom prst="rect">
            <a:avLst/>
          </a:prstGeom>
        </p:spPr>
      </p:pic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26497" b="-26497"/>
          <a:stretch/>
        </p:blipFill>
        <p:spPr>
          <a:xfrm>
            <a:off x="1028700" y="2878531"/>
            <a:ext cx="152705" cy="26700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295705" y="2878531"/>
            <a:ext cx="266456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Energy &amp; Emissions Visibility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1028700" y="3221431"/>
            <a:ext cx="3771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institution has limited visibility into campus energy consumption, which constrains effective monitoring of Scope 1 &amp; 2 emissions and hinders accurate tracking.</a:t>
            </a:r>
            <a:endParaRPr lang="en-US" sz="10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 t="-28966" b="-28966"/>
          <a:stretch/>
        </p:blipFill>
        <p:spPr>
          <a:xfrm>
            <a:off x="1028700" y="4100170"/>
            <a:ext cx="190195" cy="267005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333195" y="4100170"/>
            <a:ext cx="206380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Operational Resilience</a:t>
            </a:r>
            <a:endParaRPr lang="en-US" sz="1300" dirty="0"/>
          </a:p>
        </p:txBody>
      </p:sp>
      <p:sp>
        <p:nvSpPr>
          <p:cNvPr id="16" name="Text 11"/>
          <p:cNvSpPr txBox="1"/>
          <p:nvPr/>
        </p:nvSpPr>
        <p:spPr>
          <a:xfrm>
            <a:off x="1028700" y="4443070"/>
            <a:ext cx="37719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Building-related inefficiencies in water and resource management create operational constraints and limit climate resilience planning capabilities.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562295" y="2143354"/>
            <a:ext cx="58677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5562295" y="1876349"/>
            <a:ext cx="5943600" cy="1920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Objectives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2305202"/>
            <a:ext cx="5867705" cy="113842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5734202" y="2505456"/>
            <a:ext cx="514807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5"/>
          <p:cNvSpPr txBox="1"/>
          <p:nvPr/>
        </p:nvSpPr>
        <p:spPr>
          <a:xfrm>
            <a:off x="6409944" y="2505456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Gap Assessment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6409944" y="2809951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a qualitative assessment of current practices across energy, water, and reporting domains to identify operational blind spots.</a:t>
            </a:r>
            <a:endParaRPr lang="en-US" sz="10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3595421"/>
            <a:ext cx="5867705" cy="113842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5734202" y="3795674"/>
            <a:ext cx="514807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6409944" y="3795674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Capabilities</a:t>
            </a:r>
            <a:endParaRPr lang="en-US" sz="1300" dirty="0"/>
          </a:p>
        </p:txBody>
      </p:sp>
      <p:sp>
        <p:nvSpPr>
          <p:cNvPr id="26" name="Text 19"/>
          <p:cNvSpPr txBox="1"/>
          <p:nvPr/>
        </p:nvSpPr>
        <p:spPr>
          <a:xfrm>
            <a:off x="6409944" y="4100170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Map relevant TCS digital sustainability solutions to identified challenges based on functional requirements.</a:t>
            </a:r>
            <a:endParaRPr lang="en-US" sz="1000" dirty="0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6"/>
          <a:srcRect t="-6" b="-6"/>
          <a:stretch/>
        </p:blipFill>
        <p:spPr>
          <a:xfrm>
            <a:off x="5562295" y="4886554"/>
            <a:ext cx="5867705" cy="1138428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734202" y="5086807"/>
            <a:ext cx="514807" cy="457200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3A8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6409944" y="5086807"/>
            <a:ext cx="49341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Prioritize Solutions</a:t>
            </a:r>
            <a:endParaRPr lang="en-US" sz="1300" dirty="0"/>
          </a:p>
        </p:txBody>
      </p:sp>
      <p:sp>
        <p:nvSpPr>
          <p:cNvPr id="30" name="Text 22"/>
          <p:cNvSpPr txBox="1"/>
          <p:nvPr/>
        </p:nvSpPr>
        <p:spPr>
          <a:xfrm>
            <a:off x="6409944" y="5391302"/>
            <a:ext cx="48966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comparative evaluation and shortlisting of solutions based on functional fit with client challenges.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4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13</a:t>
            </a:r>
            <a:endParaRPr lang="en-US" sz="90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44485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SOLUTION FITMENT MATRIX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50200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Qualitative Fitment Matrix – Task 3 Solution Comparison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3556" y="1257300"/>
            <a:ext cx="126644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TCS DIGITAL ESG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1800454"/>
            <a:ext cx="10668305" cy="3571646"/>
          </a:xfrm>
          <a:prstGeom prst="roundRect">
            <a:avLst>
              <a:gd name="adj" fmla="val 546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1754" y="1809598"/>
            <a:ext cx="1904695" cy="666598"/>
          </a:xfrm>
          <a:prstGeom prst="roundRect">
            <a:avLst>
              <a:gd name="adj" fmla="val 15677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212494" y="2038198"/>
            <a:ext cx="10195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7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 Area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76449" y="1809598"/>
            <a:ext cx="1752905" cy="66659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 l="-1648" r="-1648"/>
          <a:stretch/>
        </p:blipFill>
        <p:spPr>
          <a:xfrm>
            <a:off x="3460090" y="1872691"/>
            <a:ext cx="171907" cy="190195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167482" y="2120494"/>
            <a:ext cx="7626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(IoT Energy)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425696" y="1809598"/>
            <a:ext cx="1752905" cy="66659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223053" y="1872691"/>
            <a:ext cx="142646" cy="190195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857293" y="2120494"/>
            <a:ext cx="8769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Clever Energy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(Carbon Acct)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6174029" y="1809598"/>
            <a:ext cx="1752905" cy="66659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948526" y="1872691"/>
            <a:ext cx="190195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651346" y="2120494"/>
            <a:ext cx="790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Zero Carbon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(Analytics)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7923276" y="1809598"/>
            <a:ext cx="1752905" cy="666598"/>
          </a:xfrm>
          <a:prstGeom prst="rect">
            <a:avLst/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8720633" y="1872691"/>
            <a:ext cx="142646" cy="190195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349386" y="2120494"/>
            <a:ext cx="8961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Circle4Life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(Smart Water)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9671609" y="1809598"/>
            <a:ext cx="1752905" cy="666598"/>
          </a:xfrm>
          <a:prstGeom prst="roundRect">
            <a:avLst>
              <a:gd name="adj" fmla="val 15677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10455250" y="1872691"/>
            <a:ext cx="171907" cy="190195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10049256" y="2120494"/>
            <a:ext cx="9912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ESG Integration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1E40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(Data Hub)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771754" y="2476195"/>
            <a:ext cx="1904695" cy="56235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0"/>
          <p:cNvSpPr txBox="1"/>
          <p:nvPr/>
        </p:nvSpPr>
        <p:spPr>
          <a:xfrm>
            <a:off x="886054" y="2553005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Energy Efficiency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886054" y="2762402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Optimization &amp; cost reduction</a:t>
            </a:r>
            <a:endParaRPr lang="en-US" sz="800" dirty="0"/>
          </a:p>
        </p:txBody>
      </p:sp>
      <p:sp>
        <p:nvSpPr>
          <p:cNvPr id="29" name="Shape 22"/>
          <p:cNvSpPr/>
          <p:nvPr/>
        </p:nvSpPr>
        <p:spPr>
          <a:xfrm>
            <a:off x="2676449" y="2476195"/>
            <a:ext cx="1752905" cy="562356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3412541" y="261975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3483864" y="2686507"/>
            <a:ext cx="123444" cy="133502"/>
          </a:xfrm>
          <a:prstGeom prst="rect">
            <a:avLst/>
          </a:prstGeom>
        </p:spPr>
      </p:pic>
      <p:sp>
        <p:nvSpPr>
          <p:cNvPr id="32" name="Shape 24"/>
          <p:cNvSpPr/>
          <p:nvPr/>
        </p:nvSpPr>
        <p:spPr>
          <a:xfrm>
            <a:off x="4425696" y="3029407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6168542" y="2476195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5161788" y="2619756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35" name="Image 6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5233111" y="2686507"/>
            <a:ext cx="123444" cy="133502"/>
          </a:xfrm>
          <a:prstGeom prst="rect">
            <a:avLst/>
          </a:prstGeom>
        </p:spPr>
      </p:pic>
      <p:sp>
        <p:nvSpPr>
          <p:cNvPr id="36" name="Shape 27"/>
          <p:cNvSpPr/>
          <p:nvPr/>
        </p:nvSpPr>
        <p:spPr>
          <a:xfrm>
            <a:off x="6174029" y="2476195"/>
            <a:ext cx="1752905" cy="562356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910121" y="261975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6981444" y="2686507"/>
            <a:ext cx="123444" cy="133502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7923276" y="3029407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9666122" y="2476195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1" name="Shape 31"/>
          <p:cNvSpPr/>
          <p:nvPr/>
        </p:nvSpPr>
        <p:spPr>
          <a:xfrm>
            <a:off x="8659368" y="2619756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730691" y="2686507"/>
            <a:ext cx="123444" cy="133502"/>
          </a:xfrm>
          <a:prstGeom prst="rect">
            <a:avLst/>
          </a:prstGeom>
        </p:spPr>
      </p:pic>
      <p:sp>
        <p:nvSpPr>
          <p:cNvPr id="43" name="Shape 32"/>
          <p:cNvSpPr/>
          <p:nvPr/>
        </p:nvSpPr>
        <p:spPr>
          <a:xfrm>
            <a:off x="9671609" y="3029407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11415370" y="2476195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10407701" y="2619756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46" name="Image 9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10479024" y="2686507"/>
            <a:ext cx="123444" cy="133502"/>
          </a:xfrm>
          <a:prstGeom prst="rect">
            <a:avLst/>
          </a:prstGeom>
        </p:spPr>
      </p:pic>
      <p:sp>
        <p:nvSpPr>
          <p:cNvPr id="47" name="Shape 35"/>
          <p:cNvSpPr/>
          <p:nvPr/>
        </p:nvSpPr>
        <p:spPr>
          <a:xfrm>
            <a:off x="771754" y="3038551"/>
            <a:ext cx="1904695" cy="752551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Text 36"/>
          <p:cNvSpPr txBox="1"/>
          <p:nvPr/>
        </p:nvSpPr>
        <p:spPr>
          <a:xfrm>
            <a:off x="886054" y="3114446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GHG Tracking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886054" y="3323844"/>
            <a:ext cx="17337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1 &amp; 2, with partial Scope 3 visibility</a:t>
            </a:r>
            <a:endParaRPr lang="en-US" sz="800" dirty="0"/>
          </a:p>
        </p:txBody>
      </p:sp>
      <p:sp>
        <p:nvSpPr>
          <p:cNvPr id="50" name="Shape 38"/>
          <p:cNvSpPr/>
          <p:nvPr/>
        </p:nvSpPr>
        <p:spPr>
          <a:xfrm>
            <a:off x="2676449" y="3781958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1" name="Shape 39"/>
          <p:cNvSpPr/>
          <p:nvPr/>
        </p:nvSpPr>
        <p:spPr>
          <a:xfrm>
            <a:off x="4420210" y="3038551"/>
            <a:ext cx="9144" cy="75255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2" name="Shape 40"/>
          <p:cNvSpPr/>
          <p:nvPr/>
        </p:nvSpPr>
        <p:spPr>
          <a:xfrm>
            <a:off x="3412541" y="3276295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53" name="Image 10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3483864" y="3343046"/>
            <a:ext cx="123444" cy="133502"/>
          </a:xfrm>
          <a:prstGeom prst="rect">
            <a:avLst/>
          </a:prstGeom>
        </p:spPr>
      </p:pic>
      <p:sp>
        <p:nvSpPr>
          <p:cNvPr id="54" name="Shape 41"/>
          <p:cNvSpPr/>
          <p:nvPr/>
        </p:nvSpPr>
        <p:spPr>
          <a:xfrm>
            <a:off x="4425696" y="3038551"/>
            <a:ext cx="1752905" cy="752551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5" name="Shape 42"/>
          <p:cNvSpPr/>
          <p:nvPr/>
        </p:nvSpPr>
        <p:spPr>
          <a:xfrm>
            <a:off x="5161788" y="3276295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6" name="Image 11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5233111" y="3343046"/>
            <a:ext cx="123444" cy="133502"/>
          </a:xfrm>
          <a:prstGeom prst="rect">
            <a:avLst/>
          </a:prstGeom>
        </p:spPr>
      </p:pic>
      <p:sp>
        <p:nvSpPr>
          <p:cNvPr id="57" name="Shape 43"/>
          <p:cNvSpPr/>
          <p:nvPr/>
        </p:nvSpPr>
        <p:spPr>
          <a:xfrm>
            <a:off x="6174029" y="3781958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8" name="Shape 44"/>
          <p:cNvSpPr/>
          <p:nvPr/>
        </p:nvSpPr>
        <p:spPr>
          <a:xfrm>
            <a:off x="7917790" y="3038551"/>
            <a:ext cx="9144" cy="75255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59" name="Shape 45"/>
          <p:cNvSpPr/>
          <p:nvPr/>
        </p:nvSpPr>
        <p:spPr>
          <a:xfrm>
            <a:off x="6910121" y="3276295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60" name="Image 12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6981444" y="3343046"/>
            <a:ext cx="123444" cy="133502"/>
          </a:xfrm>
          <a:prstGeom prst="rect">
            <a:avLst/>
          </a:prstGeom>
        </p:spPr>
      </p:pic>
      <p:sp>
        <p:nvSpPr>
          <p:cNvPr id="61" name="Shape 46"/>
          <p:cNvSpPr/>
          <p:nvPr/>
        </p:nvSpPr>
        <p:spPr>
          <a:xfrm>
            <a:off x="7923276" y="3781958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62" name="Shape 47"/>
          <p:cNvSpPr/>
          <p:nvPr/>
        </p:nvSpPr>
        <p:spPr>
          <a:xfrm>
            <a:off x="9666122" y="3038551"/>
            <a:ext cx="9144" cy="752551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63" name="Shape 48"/>
          <p:cNvSpPr/>
          <p:nvPr/>
        </p:nvSpPr>
        <p:spPr>
          <a:xfrm>
            <a:off x="8659368" y="3276295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4" name="Image 13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730691" y="3343046"/>
            <a:ext cx="123444" cy="133502"/>
          </a:xfrm>
          <a:prstGeom prst="rect">
            <a:avLst/>
          </a:prstGeom>
        </p:spPr>
      </p:pic>
      <p:sp>
        <p:nvSpPr>
          <p:cNvPr id="65" name="Shape 49"/>
          <p:cNvSpPr/>
          <p:nvPr/>
        </p:nvSpPr>
        <p:spPr>
          <a:xfrm>
            <a:off x="9671609" y="3038551"/>
            <a:ext cx="1752905" cy="752551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66" name="Shape 50"/>
          <p:cNvSpPr/>
          <p:nvPr/>
        </p:nvSpPr>
        <p:spPr>
          <a:xfrm>
            <a:off x="10407701" y="3276295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67" name="Image 14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10479024" y="3343046"/>
            <a:ext cx="123444" cy="133502"/>
          </a:xfrm>
          <a:prstGeom prst="rect">
            <a:avLst/>
          </a:prstGeom>
        </p:spPr>
      </p:pic>
      <p:sp>
        <p:nvSpPr>
          <p:cNvPr id="68" name="Shape 51"/>
          <p:cNvSpPr/>
          <p:nvPr/>
        </p:nvSpPr>
        <p:spPr>
          <a:xfrm>
            <a:off x="771754" y="3791102"/>
            <a:ext cx="1904695" cy="56235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Text 52"/>
          <p:cNvSpPr txBox="1"/>
          <p:nvPr/>
        </p:nvSpPr>
        <p:spPr>
          <a:xfrm>
            <a:off x="886054" y="3866998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Building Ops</a:t>
            </a:r>
            <a:endParaRPr lang="en-US" sz="1000" dirty="0"/>
          </a:p>
        </p:txBody>
      </p:sp>
      <p:sp>
        <p:nvSpPr>
          <p:cNvPr id="70" name="Text 53"/>
          <p:cNvSpPr txBox="1"/>
          <p:nvPr/>
        </p:nvSpPr>
        <p:spPr>
          <a:xfrm>
            <a:off x="886054" y="4076395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HVAC, Occupancy, Lighting</a:t>
            </a:r>
            <a:endParaRPr lang="en-US" sz="800" dirty="0"/>
          </a:p>
        </p:txBody>
      </p:sp>
      <p:sp>
        <p:nvSpPr>
          <p:cNvPr id="71" name="Shape 54"/>
          <p:cNvSpPr/>
          <p:nvPr/>
        </p:nvSpPr>
        <p:spPr>
          <a:xfrm>
            <a:off x="2676449" y="3791102"/>
            <a:ext cx="1752905" cy="562356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2" name="Shape 55"/>
          <p:cNvSpPr/>
          <p:nvPr/>
        </p:nvSpPr>
        <p:spPr>
          <a:xfrm>
            <a:off x="3412541" y="3933749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3" name="Image 15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3483864" y="4000500"/>
            <a:ext cx="123444" cy="133502"/>
          </a:xfrm>
          <a:prstGeom prst="rect">
            <a:avLst/>
          </a:prstGeom>
        </p:spPr>
      </p:pic>
      <p:sp>
        <p:nvSpPr>
          <p:cNvPr id="74" name="Shape 56"/>
          <p:cNvSpPr/>
          <p:nvPr/>
        </p:nvSpPr>
        <p:spPr>
          <a:xfrm>
            <a:off x="4425696" y="4343400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75" name="Shape 57"/>
          <p:cNvSpPr/>
          <p:nvPr/>
        </p:nvSpPr>
        <p:spPr>
          <a:xfrm>
            <a:off x="6168542" y="3791102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76" name="Shape 58"/>
          <p:cNvSpPr/>
          <p:nvPr/>
        </p:nvSpPr>
        <p:spPr>
          <a:xfrm>
            <a:off x="5161788" y="3933749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7" name="Image 16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5233111" y="4000500"/>
            <a:ext cx="123444" cy="133502"/>
          </a:xfrm>
          <a:prstGeom prst="rect">
            <a:avLst/>
          </a:prstGeom>
        </p:spPr>
      </p:pic>
      <p:sp>
        <p:nvSpPr>
          <p:cNvPr id="78" name="Shape 59"/>
          <p:cNvSpPr/>
          <p:nvPr/>
        </p:nvSpPr>
        <p:spPr>
          <a:xfrm>
            <a:off x="6174029" y="3791102"/>
            <a:ext cx="1752905" cy="562356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9" name="Shape 60"/>
          <p:cNvSpPr/>
          <p:nvPr/>
        </p:nvSpPr>
        <p:spPr>
          <a:xfrm>
            <a:off x="6910121" y="3933749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0" name="Image 17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6981444" y="4000500"/>
            <a:ext cx="123444" cy="133502"/>
          </a:xfrm>
          <a:prstGeom prst="rect">
            <a:avLst/>
          </a:prstGeom>
        </p:spPr>
      </p:pic>
      <p:sp>
        <p:nvSpPr>
          <p:cNvPr id="81" name="Shape 61"/>
          <p:cNvSpPr/>
          <p:nvPr/>
        </p:nvSpPr>
        <p:spPr>
          <a:xfrm>
            <a:off x="7923276" y="4343400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2" name="Shape 62"/>
          <p:cNvSpPr/>
          <p:nvPr/>
        </p:nvSpPr>
        <p:spPr>
          <a:xfrm>
            <a:off x="9666122" y="3791102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3" name="Shape 63"/>
          <p:cNvSpPr/>
          <p:nvPr/>
        </p:nvSpPr>
        <p:spPr>
          <a:xfrm>
            <a:off x="8659368" y="3933749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4" name="Image 1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730691" y="4000500"/>
            <a:ext cx="123444" cy="133502"/>
          </a:xfrm>
          <a:prstGeom prst="rect">
            <a:avLst/>
          </a:prstGeom>
        </p:spPr>
      </p:pic>
      <p:sp>
        <p:nvSpPr>
          <p:cNvPr id="85" name="Shape 64"/>
          <p:cNvSpPr/>
          <p:nvPr/>
        </p:nvSpPr>
        <p:spPr>
          <a:xfrm>
            <a:off x="9671609" y="4343400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6" name="Shape 65"/>
          <p:cNvSpPr/>
          <p:nvPr/>
        </p:nvSpPr>
        <p:spPr>
          <a:xfrm>
            <a:off x="11415370" y="3791102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87" name="Shape 66"/>
          <p:cNvSpPr/>
          <p:nvPr/>
        </p:nvSpPr>
        <p:spPr>
          <a:xfrm>
            <a:off x="10407701" y="3933749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88" name="Image 19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10479024" y="4000500"/>
            <a:ext cx="123444" cy="133502"/>
          </a:xfrm>
          <a:prstGeom prst="rect">
            <a:avLst/>
          </a:prstGeom>
        </p:spPr>
      </p:pic>
      <p:sp>
        <p:nvSpPr>
          <p:cNvPr id="89" name="Shape 67"/>
          <p:cNvSpPr/>
          <p:nvPr/>
        </p:nvSpPr>
        <p:spPr>
          <a:xfrm>
            <a:off x="771754" y="4352544"/>
            <a:ext cx="1904695" cy="562356"/>
          </a:xfrm>
          <a:prstGeom prst="rect">
            <a:avLst/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0" name="Text 68"/>
          <p:cNvSpPr txBox="1"/>
          <p:nvPr/>
        </p:nvSpPr>
        <p:spPr>
          <a:xfrm>
            <a:off x="886054" y="4429354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Water Mgmt</a:t>
            </a:r>
            <a:endParaRPr lang="en-US" sz="1000" dirty="0"/>
          </a:p>
        </p:txBody>
      </p:sp>
      <p:sp>
        <p:nvSpPr>
          <p:cNvPr id="91" name="Text 69"/>
          <p:cNvSpPr txBox="1"/>
          <p:nvPr/>
        </p:nvSpPr>
        <p:spPr>
          <a:xfrm>
            <a:off x="886054" y="4638751"/>
            <a:ext cx="18955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Consumption &amp; quality monitoring</a:t>
            </a:r>
            <a:endParaRPr lang="en-US" sz="800" dirty="0"/>
          </a:p>
        </p:txBody>
      </p:sp>
      <p:sp>
        <p:nvSpPr>
          <p:cNvPr id="92" name="Shape 70"/>
          <p:cNvSpPr/>
          <p:nvPr/>
        </p:nvSpPr>
        <p:spPr>
          <a:xfrm>
            <a:off x="2676449" y="4905756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3" name="Shape 71"/>
          <p:cNvSpPr/>
          <p:nvPr/>
        </p:nvSpPr>
        <p:spPr>
          <a:xfrm>
            <a:off x="4420210" y="4352544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4" name="Shape 72"/>
          <p:cNvSpPr/>
          <p:nvPr/>
        </p:nvSpPr>
        <p:spPr>
          <a:xfrm>
            <a:off x="3412541" y="4496105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95" name="Image 20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3483864" y="4562856"/>
            <a:ext cx="123444" cy="133502"/>
          </a:xfrm>
          <a:prstGeom prst="rect">
            <a:avLst/>
          </a:prstGeom>
        </p:spPr>
      </p:pic>
      <p:sp>
        <p:nvSpPr>
          <p:cNvPr id="96" name="Shape 73"/>
          <p:cNvSpPr/>
          <p:nvPr/>
        </p:nvSpPr>
        <p:spPr>
          <a:xfrm>
            <a:off x="4425696" y="4905756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7" name="Shape 74"/>
          <p:cNvSpPr/>
          <p:nvPr/>
        </p:nvSpPr>
        <p:spPr>
          <a:xfrm>
            <a:off x="6168542" y="4352544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98" name="Shape 75"/>
          <p:cNvSpPr/>
          <p:nvPr/>
        </p:nvSpPr>
        <p:spPr>
          <a:xfrm>
            <a:off x="5161788" y="4496105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99" name="Image 21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5233111" y="4562856"/>
            <a:ext cx="123444" cy="133502"/>
          </a:xfrm>
          <a:prstGeom prst="rect">
            <a:avLst/>
          </a:prstGeom>
        </p:spPr>
      </p:pic>
      <p:sp>
        <p:nvSpPr>
          <p:cNvPr id="100" name="Shape 76"/>
          <p:cNvSpPr/>
          <p:nvPr/>
        </p:nvSpPr>
        <p:spPr>
          <a:xfrm>
            <a:off x="6174029" y="4905756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1" name="Shape 77"/>
          <p:cNvSpPr/>
          <p:nvPr/>
        </p:nvSpPr>
        <p:spPr>
          <a:xfrm>
            <a:off x="7917790" y="4352544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2" name="Shape 78"/>
          <p:cNvSpPr/>
          <p:nvPr/>
        </p:nvSpPr>
        <p:spPr>
          <a:xfrm>
            <a:off x="6910121" y="4496105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3" name="Image 22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6981444" y="4562856"/>
            <a:ext cx="123444" cy="133502"/>
          </a:xfrm>
          <a:prstGeom prst="rect">
            <a:avLst/>
          </a:prstGeom>
        </p:spPr>
      </p:pic>
      <p:sp>
        <p:nvSpPr>
          <p:cNvPr id="104" name="Shape 79"/>
          <p:cNvSpPr/>
          <p:nvPr/>
        </p:nvSpPr>
        <p:spPr>
          <a:xfrm>
            <a:off x="7923276" y="4352544"/>
            <a:ext cx="1752905" cy="562356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5" name="Shape 80"/>
          <p:cNvSpPr/>
          <p:nvPr/>
        </p:nvSpPr>
        <p:spPr>
          <a:xfrm>
            <a:off x="8659368" y="4496105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06" name="Image 23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8730691" y="4562856"/>
            <a:ext cx="123444" cy="133502"/>
          </a:xfrm>
          <a:prstGeom prst="rect">
            <a:avLst/>
          </a:prstGeom>
        </p:spPr>
      </p:pic>
      <p:sp>
        <p:nvSpPr>
          <p:cNvPr id="107" name="Shape 81"/>
          <p:cNvSpPr/>
          <p:nvPr/>
        </p:nvSpPr>
        <p:spPr>
          <a:xfrm>
            <a:off x="9671609" y="4905756"/>
            <a:ext cx="1752905" cy="9144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8" name="Shape 82"/>
          <p:cNvSpPr/>
          <p:nvPr/>
        </p:nvSpPr>
        <p:spPr>
          <a:xfrm>
            <a:off x="11415370" y="4352544"/>
            <a:ext cx="9144" cy="562356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09" name="Shape 83"/>
          <p:cNvSpPr/>
          <p:nvPr/>
        </p:nvSpPr>
        <p:spPr>
          <a:xfrm>
            <a:off x="10407701" y="4496105"/>
            <a:ext cx="267005" cy="26700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10" name="Image 24" descr="preencoded.png"/>
          <p:cNvPicPr>
            <a:picLocks noChangeAspect="1"/>
          </p:cNvPicPr>
          <p:nvPr/>
        </p:nvPicPr>
        <p:blipFill>
          <a:blip r:embed="rId9"/>
          <a:srcRect l="-2838" r="-2838"/>
          <a:stretch/>
        </p:blipFill>
        <p:spPr>
          <a:xfrm>
            <a:off x="10479024" y="4562856"/>
            <a:ext cx="123444" cy="133502"/>
          </a:xfrm>
          <a:prstGeom prst="rect">
            <a:avLst/>
          </a:prstGeom>
        </p:spPr>
      </p:pic>
      <p:sp>
        <p:nvSpPr>
          <p:cNvPr id="111" name="Shape 84"/>
          <p:cNvSpPr/>
          <p:nvPr/>
        </p:nvSpPr>
        <p:spPr>
          <a:xfrm>
            <a:off x="771754" y="4914900"/>
            <a:ext cx="1904695" cy="552298"/>
          </a:xfrm>
          <a:prstGeom prst="rect">
            <a:avLst/>
          </a:prstGeom>
          <a:solidFill>
            <a:srgbClr val="F9FAFB"/>
          </a:solidFill>
          <a:ln/>
        </p:spPr>
      </p:sp>
      <p:sp>
        <p:nvSpPr>
          <p:cNvPr id="112" name="Shape 85"/>
          <p:cNvSpPr/>
          <p:nvPr/>
        </p:nvSpPr>
        <p:spPr>
          <a:xfrm>
            <a:off x="2667305" y="4914900"/>
            <a:ext cx="9144" cy="55229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3" name="Text 86"/>
          <p:cNvSpPr txBox="1"/>
          <p:nvPr/>
        </p:nvSpPr>
        <p:spPr>
          <a:xfrm>
            <a:off x="886054" y="4990795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ESG Reporting</a:t>
            </a:r>
            <a:endParaRPr lang="en-US" sz="1000" dirty="0"/>
          </a:p>
        </p:txBody>
      </p:sp>
      <p:sp>
        <p:nvSpPr>
          <p:cNvPr id="114" name="Text 87"/>
          <p:cNvSpPr txBox="1"/>
          <p:nvPr/>
        </p:nvSpPr>
        <p:spPr>
          <a:xfrm>
            <a:off x="886054" y="5201107"/>
            <a:ext cx="174376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6B728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Compliance &amp; disclosure data</a:t>
            </a:r>
            <a:endParaRPr lang="en-US" sz="800" dirty="0"/>
          </a:p>
        </p:txBody>
      </p:sp>
      <p:sp>
        <p:nvSpPr>
          <p:cNvPr id="115" name="Shape 88"/>
          <p:cNvSpPr/>
          <p:nvPr/>
        </p:nvSpPr>
        <p:spPr>
          <a:xfrm>
            <a:off x="4420210" y="4914900"/>
            <a:ext cx="9144" cy="55229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16" name="Shape 89"/>
          <p:cNvSpPr/>
          <p:nvPr/>
        </p:nvSpPr>
        <p:spPr>
          <a:xfrm>
            <a:off x="3412541" y="5057546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17" name="Image 25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3483864" y="5124298"/>
            <a:ext cx="123444" cy="133502"/>
          </a:xfrm>
          <a:prstGeom prst="rect">
            <a:avLst/>
          </a:prstGeom>
        </p:spPr>
      </p:pic>
      <p:sp>
        <p:nvSpPr>
          <p:cNvPr id="118" name="Shape 90"/>
          <p:cNvSpPr/>
          <p:nvPr/>
        </p:nvSpPr>
        <p:spPr>
          <a:xfrm>
            <a:off x="4425696" y="4914900"/>
            <a:ext cx="1752905" cy="552298"/>
          </a:xfrm>
          <a:prstGeom prst="rect">
            <a:avLst/>
          </a:prstGeom>
          <a:solidFill>
            <a:srgbClr val="EFF6FF">
              <a:alpha val="40000"/>
            </a:srgbClr>
          </a:solidFill>
          <a:ln/>
        </p:spPr>
      </p:sp>
      <p:sp>
        <p:nvSpPr>
          <p:cNvPr id="119" name="Shape 91"/>
          <p:cNvSpPr/>
          <p:nvPr/>
        </p:nvSpPr>
        <p:spPr>
          <a:xfrm>
            <a:off x="6169457" y="4914900"/>
            <a:ext cx="9144" cy="55229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20" name="Shape 92"/>
          <p:cNvSpPr/>
          <p:nvPr/>
        </p:nvSpPr>
        <p:spPr>
          <a:xfrm>
            <a:off x="5161788" y="505754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1" name="Image 26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5233111" y="5124298"/>
            <a:ext cx="123444" cy="133502"/>
          </a:xfrm>
          <a:prstGeom prst="rect">
            <a:avLst/>
          </a:prstGeom>
        </p:spPr>
      </p:pic>
      <p:sp>
        <p:nvSpPr>
          <p:cNvPr id="122" name="Shape 93"/>
          <p:cNvSpPr/>
          <p:nvPr/>
        </p:nvSpPr>
        <p:spPr>
          <a:xfrm>
            <a:off x="7917790" y="4914900"/>
            <a:ext cx="9144" cy="55229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23" name="Shape 94"/>
          <p:cNvSpPr/>
          <p:nvPr/>
        </p:nvSpPr>
        <p:spPr>
          <a:xfrm>
            <a:off x="6910121" y="5057546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4" name="Image 27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6981444" y="5124298"/>
            <a:ext cx="123444" cy="133502"/>
          </a:xfrm>
          <a:prstGeom prst="rect">
            <a:avLst/>
          </a:prstGeom>
        </p:spPr>
      </p:pic>
      <p:sp>
        <p:nvSpPr>
          <p:cNvPr id="125" name="Shape 95"/>
          <p:cNvSpPr/>
          <p:nvPr/>
        </p:nvSpPr>
        <p:spPr>
          <a:xfrm>
            <a:off x="9667037" y="4914900"/>
            <a:ext cx="9144" cy="552298"/>
          </a:xfrm>
          <a:prstGeom prst="rect">
            <a:avLst/>
          </a:prstGeom>
          <a:solidFill>
            <a:srgbClr val="F3F4F6"/>
          </a:solidFill>
          <a:ln w="12700">
            <a:solidFill>
              <a:srgbClr val="F3F4F6">
                <a:alpha val="0"/>
              </a:srgbClr>
            </a:solidFill>
            <a:prstDash val="solid"/>
          </a:ln>
        </p:spPr>
      </p:sp>
      <p:sp>
        <p:nvSpPr>
          <p:cNvPr id="126" name="Shape 96"/>
          <p:cNvSpPr/>
          <p:nvPr/>
        </p:nvSpPr>
        <p:spPr>
          <a:xfrm>
            <a:off x="8659368" y="5057546"/>
            <a:ext cx="267005" cy="26700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7" name="Image 28" descr="preencoded.png"/>
          <p:cNvPicPr>
            <a:picLocks noChangeAspect="1"/>
          </p:cNvPicPr>
          <p:nvPr/>
        </p:nvPicPr>
        <p:blipFill>
          <a:blip r:embed="rId10"/>
          <a:srcRect l="-2838" r="-2838"/>
          <a:stretch/>
        </p:blipFill>
        <p:spPr>
          <a:xfrm>
            <a:off x="8730691" y="5124298"/>
            <a:ext cx="123444" cy="133502"/>
          </a:xfrm>
          <a:prstGeom prst="rect">
            <a:avLst/>
          </a:prstGeom>
        </p:spPr>
      </p:pic>
      <p:sp>
        <p:nvSpPr>
          <p:cNvPr id="128" name="Shape 97"/>
          <p:cNvSpPr/>
          <p:nvPr/>
        </p:nvSpPr>
        <p:spPr>
          <a:xfrm>
            <a:off x="9671609" y="4914900"/>
            <a:ext cx="1752905" cy="552298"/>
          </a:xfrm>
          <a:prstGeom prst="rect">
            <a:avLst/>
          </a:prstGeom>
          <a:solidFill>
            <a:srgbClr val="EFF6FF">
              <a:alpha val="4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9" name="Shape 98"/>
          <p:cNvSpPr/>
          <p:nvPr/>
        </p:nvSpPr>
        <p:spPr>
          <a:xfrm>
            <a:off x="10412273" y="505754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0" name="Image 29" descr="preencoded.png"/>
          <p:cNvPicPr>
            <a:picLocks noChangeAspect="1"/>
          </p:cNvPicPr>
          <p:nvPr/>
        </p:nvPicPr>
        <p:blipFill>
          <a:blip r:embed="rId8"/>
          <a:srcRect l="-2838" r="-2838"/>
          <a:stretch/>
        </p:blipFill>
        <p:spPr>
          <a:xfrm>
            <a:off x="10483596" y="5124298"/>
            <a:ext cx="123444" cy="133502"/>
          </a:xfrm>
          <a:prstGeom prst="rect">
            <a:avLst/>
          </a:prstGeom>
        </p:spPr>
      </p:pic>
      <p:sp>
        <p:nvSpPr>
          <p:cNvPr id="131" name="Shape 99"/>
          <p:cNvSpPr/>
          <p:nvPr/>
        </p:nvSpPr>
        <p:spPr>
          <a:xfrm>
            <a:off x="6896405" y="5524805"/>
            <a:ext cx="190195" cy="19019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2" name="Image 30" descr="preencoded.png"/>
          <p:cNvPicPr>
            <a:picLocks noChangeAspect="1"/>
          </p:cNvPicPr>
          <p:nvPr/>
        </p:nvPicPr>
        <p:blipFill>
          <a:blip r:embed="rId11"/>
          <a:srcRect l="-1648" r="-1648"/>
          <a:stretch/>
        </p:blipFill>
        <p:spPr>
          <a:xfrm>
            <a:off x="6948526" y="5572354"/>
            <a:ext cx="85954" cy="95098"/>
          </a:xfrm>
          <a:prstGeom prst="rect">
            <a:avLst/>
          </a:prstGeom>
        </p:spPr>
      </p:pic>
      <p:sp>
        <p:nvSpPr>
          <p:cNvPr id="133" name="Text 100"/>
          <p:cNvSpPr txBox="1"/>
          <p:nvPr/>
        </p:nvSpPr>
        <p:spPr>
          <a:xfrm>
            <a:off x="7163410" y="5544007"/>
            <a:ext cx="12134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Primary Solution Fit</a:t>
            </a:r>
            <a:endParaRPr lang="en-US" sz="900" dirty="0"/>
          </a:p>
        </p:txBody>
      </p:sp>
      <p:sp>
        <p:nvSpPr>
          <p:cNvPr id="134" name="Shape 101"/>
          <p:cNvSpPr/>
          <p:nvPr/>
        </p:nvSpPr>
        <p:spPr>
          <a:xfrm>
            <a:off x="8478317" y="5524805"/>
            <a:ext cx="190195" cy="190195"/>
          </a:xfrm>
          <a:prstGeom prst="ellipse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</p:spPr>
      </p:sp>
      <p:pic>
        <p:nvPicPr>
          <p:cNvPr id="135" name="Image 31" descr="preencoded.png"/>
          <p:cNvPicPr>
            <a:picLocks noChangeAspect="1"/>
          </p:cNvPicPr>
          <p:nvPr/>
        </p:nvPicPr>
        <p:blipFill>
          <a:blip r:embed="rId12"/>
          <a:srcRect l="-1648" r="-1648"/>
          <a:stretch/>
        </p:blipFill>
        <p:spPr>
          <a:xfrm>
            <a:off x="8531352" y="5572354"/>
            <a:ext cx="85954" cy="95098"/>
          </a:xfrm>
          <a:prstGeom prst="rect">
            <a:avLst/>
          </a:prstGeom>
        </p:spPr>
      </p:pic>
      <p:sp>
        <p:nvSpPr>
          <p:cNvPr id="136" name="Text 102"/>
          <p:cNvSpPr txBox="1"/>
          <p:nvPr/>
        </p:nvSpPr>
        <p:spPr>
          <a:xfrm>
            <a:off x="8745322" y="5544007"/>
            <a:ext cx="13149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Supporting Capability</a:t>
            </a:r>
            <a:endParaRPr lang="en-US" sz="900" dirty="0"/>
          </a:p>
        </p:txBody>
      </p:sp>
      <p:sp>
        <p:nvSpPr>
          <p:cNvPr id="137" name="Shape 103"/>
          <p:cNvSpPr/>
          <p:nvPr/>
        </p:nvSpPr>
        <p:spPr>
          <a:xfrm>
            <a:off x="10151669" y="5524805"/>
            <a:ext cx="190195" cy="190195"/>
          </a:xfrm>
          <a:prstGeom prst="ellipse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8" name="Image 32" descr="preencoded.png"/>
          <p:cNvPicPr>
            <a:picLocks noChangeAspect="1"/>
          </p:cNvPicPr>
          <p:nvPr/>
        </p:nvPicPr>
        <p:blipFill>
          <a:blip r:embed="rId13"/>
          <a:srcRect l="-1648" r="-1648"/>
          <a:stretch/>
        </p:blipFill>
        <p:spPr>
          <a:xfrm>
            <a:off x="10203790" y="5572354"/>
            <a:ext cx="85954" cy="95098"/>
          </a:xfrm>
          <a:prstGeom prst="rect">
            <a:avLst/>
          </a:prstGeom>
        </p:spPr>
      </p:pic>
      <p:sp>
        <p:nvSpPr>
          <p:cNvPr id="139" name="Text 104"/>
          <p:cNvSpPr txBox="1"/>
          <p:nvPr/>
        </p:nvSpPr>
        <p:spPr>
          <a:xfrm>
            <a:off x="10417759" y="5544007"/>
            <a:ext cx="121340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 / No Relevance</a:t>
            </a:r>
            <a:endParaRPr lang="en-US" sz="900" dirty="0"/>
          </a:p>
        </p:txBody>
      </p:sp>
      <p:sp>
        <p:nvSpPr>
          <p:cNvPr id="140" name="Shape 105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41" name="Text 106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142" name="Text 107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14</a:t>
            </a:r>
            <a:endParaRPr lang="en-US" sz="900" dirty="0"/>
          </a:p>
        </p:txBody>
      </p:sp>
      <p:pic>
        <p:nvPicPr>
          <p:cNvPr id="143" name="Image 33" descr="preencoded.png"/>
          <p:cNvPicPr>
            <a:picLocks noChangeAspect="1"/>
          </p:cNvPicPr>
          <p:nvPr/>
        </p:nvPicPr>
        <p:blipFill>
          <a:blip r:embed="rId1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684885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GRI-BASED ESG DISCLOSURE SNAPSHOT: WIPRO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62773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Analyst Assessment – Sustainability Report Review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489997" y="1257300"/>
            <a:ext cx="94640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 ANALYSIS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1800454"/>
            <a:ext cx="4143146" cy="3095244"/>
          </a:xfrm>
          <a:prstGeom prst="roundRect">
            <a:avLst>
              <a:gd name="adj" fmla="val 545"/>
            </a:avLst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1695" y="1800454"/>
            <a:ext cx="4143146" cy="28346"/>
          </a:xfrm>
          <a:prstGeom prst="roundRect">
            <a:avLst>
              <a:gd name="adj" fmla="val 59554"/>
            </a:avLst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23544" y="2258568"/>
            <a:ext cx="3819449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32942" y="1981505"/>
            <a:ext cx="3686861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3415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Scope &amp; Framework </a:t>
            </a:r>
            <a:endParaRPr lang="en-US" sz="10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23544" y="2011680"/>
            <a:ext cx="133502" cy="133502"/>
          </a:xfrm>
          <a:prstGeom prst="rect">
            <a:avLst/>
          </a:prstGeom>
        </p:spPr>
      </p:pic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l="-7143" r="-7143"/>
          <a:stretch/>
        </p:blipFill>
        <p:spPr>
          <a:xfrm>
            <a:off x="923544" y="2375611"/>
            <a:ext cx="114300" cy="1143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248156" y="2375611"/>
            <a:ext cx="357256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 Standards Review: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Analysis against GRI Universal (1, 2, 3) and Topic-Specific Standards.</a:t>
            </a:r>
            <a:endParaRPr lang="en-US" sz="9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rcRect l="-22000" r="-22000"/>
          <a:stretch/>
        </p:blipFill>
        <p:spPr>
          <a:xfrm>
            <a:off x="923544" y="2790749"/>
            <a:ext cx="123444" cy="1143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257300" y="2790749"/>
            <a:ext cx="35625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Report Scope: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Integrated Annual Report &amp; BRSR disclosures covering global operations.</a:t>
            </a:r>
            <a:endParaRPr lang="en-US" sz="9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rcRect l="-4000" r="-4000"/>
          <a:stretch/>
        </p:blipFill>
        <p:spPr>
          <a:xfrm>
            <a:off x="923544" y="3205886"/>
            <a:ext cx="123444" cy="11430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57300" y="3205886"/>
            <a:ext cx="3562502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 Lens: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Materiality determination, governance structure, and KPI trajectory.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923544" y="3796589"/>
            <a:ext cx="3819449" cy="942746"/>
          </a:xfrm>
          <a:prstGeom prst="roundRect">
            <a:avLst>
              <a:gd name="adj" fmla="val 587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1047902" y="4101084"/>
            <a:ext cx="3571646" cy="9144"/>
          </a:xfrm>
          <a:prstGeom prst="rect">
            <a:avLst/>
          </a:prstGeom>
          <a:solidFill>
            <a:srgbClr val="BBF7D0"/>
          </a:solidFill>
          <a:ln w="12700">
            <a:solidFill>
              <a:srgbClr val="BBF7D0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1047902" y="3920033"/>
            <a:ext cx="3686861" cy="1435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kern="0" spc="19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Commitments</a:t>
            </a:r>
            <a:endParaRPr lang="en-US" sz="800" dirty="0"/>
          </a:p>
        </p:txBody>
      </p:sp>
      <p:sp>
        <p:nvSpPr>
          <p:cNvPr id="22" name="Text 16"/>
          <p:cNvSpPr txBox="1"/>
          <p:nvPr/>
        </p:nvSpPr>
        <p:spPr>
          <a:xfrm>
            <a:off x="1248156" y="4187038"/>
            <a:ext cx="34866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Net Zero by 2040 </a:t>
            </a:r>
            <a:endParaRPr lang="en-US" sz="90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47902" y="4216298"/>
            <a:ext cx="123444" cy="1234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228954" y="4427525"/>
            <a:ext cx="3505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166534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100% Renewable Energy by 2030 </a:t>
            </a:r>
            <a:endParaRPr lang="en-US" sz="900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rcRect t="-1359" b="-1359"/>
          <a:stretch/>
        </p:blipFill>
        <p:spPr>
          <a:xfrm>
            <a:off x="1047902" y="4456786"/>
            <a:ext cx="105156" cy="123444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5055718" y="1800454"/>
            <a:ext cx="3629254" cy="3095244"/>
          </a:xfrm>
          <a:prstGeom prst="roundRect">
            <a:avLst>
              <a:gd name="adj" fmla="val 5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19"/>
          <p:cNvSpPr/>
          <p:nvPr/>
        </p:nvSpPr>
        <p:spPr>
          <a:xfrm>
            <a:off x="5055718" y="1800454"/>
            <a:ext cx="3629254" cy="28346"/>
          </a:xfrm>
          <a:prstGeom prst="roundRect">
            <a:avLst>
              <a:gd name="adj" fmla="val 59554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8" name="Shape 20"/>
          <p:cNvSpPr/>
          <p:nvPr/>
        </p:nvSpPr>
        <p:spPr>
          <a:xfrm>
            <a:off x="5218481" y="2258568"/>
            <a:ext cx="33055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9" name="Text 21"/>
          <p:cNvSpPr txBox="1"/>
          <p:nvPr/>
        </p:nvSpPr>
        <p:spPr>
          <a:xfrm>
            <a:off x="5427878" y="1981505"/>
            <a:ext cx="3172054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16653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Disclosure Strengths </a:t>
            </a:r>
            <a:endParaRPr lang="en-US" sz="1000" dirty="0"/>
          </a:p>
        </p:txBody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5218481" y="2011680"/>
            <a:ext cx="133502" cy="133502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218481" y="2375611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Environment</a:t>
            </a:r>
            <a:endParaRPr lang="en-US" sz="800" dirty="0"/>
          </a:p>
        </p:txBody>
      </p:sp>
      <p:sp>
        <p:nvSpPr>
          <p:cNvPr id="32" name="Shape 23"/>
          <p:cNvSpPr/>
          <p:nvPr/>
        </p:nvSpPr>
        <p:spPr>
          <a:xfrm>
            <a:off x="5218481" y="2574036"/>
            <a:ext cx="1619402" cy="599846"/>
          </a:xfrm>
          <a:prstGeom prst="roundRect">
            <a:avLst>
              <a:gd name="adj" fmla="val 9679"/>
            </a:avLst>
          </a:prstGeom>
          <a:solidFill>
            <a:srgbClr val="F0FDF4"/>
          </a:solidFill>
          <a:ln/>
        </p:spPr>
      </p:sp>
      <p:sp>
        <p:nvSpPr>
          <p:cNvPr id="33" name="Shape 24"/>
          <p:cNvSpPr/>
          <p:nvPr/>
        </p:nvSpPr>
        <p:spPr>
          <a:xfrm>
            <a:off x="5218481" y="2574036"/>
            <a:ext cx="19202" cy="599846"/>
          </a:xfrm>
          <a:prstGeom prst="roundRect">
            <a:avLst>
              <a:gd name="adj" fmla="val 302349"/>
            </a:avLst>
          </a:prstGeom>
          <a:solidFill>
            <a:srgbClr val="22C55E"/>
          </a:solidFill>
          <a:ln w="12700">
            <a:solidFill>
              <a:srgbClr val="22C55E">
                <a:alpha val="0"/>
              </a:srgbClr>
            </a:solidFill>
            <a:prstDash val="solid"/>
          </a:ln>
        </p:spPr>
      </p:sp>
      <p:sp>
        <p:nvSpPr>
          <p:cNvPr id="34" name="Text 25"/>
          <p:cNvSpPr txBox="1"/>
          <p:nvPr/>
        </p:nvSpPr>
        <p:spPr>
          <a:xfrm>
            <a:off x="5313578" y="2574036"/>
            <a:ext cx="1589227" cy="60076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Energy, Emissions, Water, Waste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 302, 305, 303, 306</a:t>
            </a:r>
            <a:endParaRPr lang="en-US" sz="800" dirty="0"/>
          </a:p>
        </p:txBody>
      </p:sp>
      <p:sp>
        <p:nvSpPr>
          <p:cNvPr id="35" name="Text 26"/>
          <p:cNvSpPr txBox="1"/>
          <p:nvPr/>
        </p:nvSpPr>
        <p:spPr>
          <a:xfrm>
            <a:off x="6909206" y="2375611"/>
            <a:ext cx="16962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</a:t>
            </a:r>
            <a:endParaRPr lang="en-US" sz="800" dirty="0"/>
          </a:p>
        </p:txBody>
      </p:sp>
      <p:sp>
        <p:nvSpPr>
          <p:cNvPr id="36" name="Shape 27"/>
          <p:cNvSpPr/>
          <p:nvPr/>
        </p:nvSpPr>
        <p:spPr>
          <a:xfrm>
            <a:off x="6909206" y="2574036"/>
            <a:ext cx="1619402" cy="437998"/>
          </a:xfrm>
          <a:prstGeom prst="roundRect">
            <a:avLst>
              <a:gd name="adj" fmla="val 18154"/>
            </a:avLst>
          </a:prstGeom>
          <a:solidFill>
            <a:srgbClr val="EFF6FF"/>
          </a:solidFill>
          <a:ln/>
        </p:spPr>
      </p:sp>
      <p:sp>
        <p:nvSpPr>
          <p:cNvPr id="37" name="Shape 28"/>
          <p:cNvSpPr/>
          <p:nvPr/>
        </p:nvSpPr>
        <p:spPr>
          <a:xfrm>
            <a:off x="6909206" y="2574036"/>
            <a:ext cx="19202" cy="437998"/>
          </a:xfrm>
          <a:prstGeom prst="roundRect">
            <a:avLst>
              <a:gd name="adj" fmla="val 414087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38" name="Text 29"/>
          <p:cNvSpPr txBox="1"/>
          <p:nvPr/>
        </p:nvSpPr>
        <p:spPr>
          <a:xfrm>
            <a:off x="7004304" y="2574036"/>
            <a:ext cx="1589227" cy="4389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Emp, Training, Diversity, OHS</a:t>
            </a:r>
            <a:endParaRPr lang="en-US" sz="800" dirty="0"/>
          </a:p>
          <a:p>
            <a:pPr marL="0" indent="0" algn="l">
              <a:buNone/>
            </a:pP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 401, 404, 405, 403</a:t>
            </a:r>
            <a:endParaRPr lang="en-US" sz="800" dirty="0"/>
          </a:p>
        </p:txBody>
      </p:sp>
      <p:sp>
        <p:nvSpPr>
          <p:cNvPr id="39" name="Text 30"/>
          <p:cNvSpPr txBox="1"/>
          <p:nvPr/>
        </p:nvSpPr>
        <p:spPr>
          <a:xfrm>
            <a:off x="5218481" y="3377794"/>
            <a:ext cx="3419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40" name="Shape 31"/>
          <p:cNvSpPr/>
          <p:nvPr/>
        </p:nvSpPr>
        <p:spPr>
          <a:xfrm>
            <a:off x="5218481" y="3575304"/>
            <a:ext cx="3305556" cy="276149"/>
          </a:xfrm>
          <a:prstGeom prst="roundRect">
            <a:avLst>
              <a:gd name="adj" fmla="val 45672"/>
            </a:avLst>
          </a:prstGeom>
          <a:solidFill>
            <a:srgbClr val="EEF2FF"/>
          </a:solidFill>
          <a:ln/>
        </p:spPr>
      </p:sp>
      <p:sp>
        <p:nvSpPr>
          <p:cNvPr id="41" name="Shape 32"/>
          <p:cNvSpPr/>
          <p:nvPr/>
        </p:nvSpPr>
        <p:spPr>
          <a:xfrm>
            <a:off x="5218481" y="3575304"/>
            <a:ext cx="19202" cy="276149"/>
          </a:xfrm>
          <a:prstGeom prst="roundRect">
            <a:avLst>
              <a:gd name="adj" fmla="val 656828"/>
            </a:avLst>
          </a:prstGeom>
          <a:solidFill>
            <a:srgbClr val="6366F1"/>
          </a:solidFill>
          <a:ln w="12700">
            <a:solidFill>
              <a:srgbClr val="6366F1">
                <a:alpha val="0"/>
              </a:srgbClr>
            </a:solidFill>
            <a:prstDash val="solid"/>
          </a:ln>
        </p:spPr>
      </p:sp>
      <p:sp>
        <p:nvSpPr>
          <p:cNvPr id="42" name="Text 33"/>
          <p:cNvSpPr txBox="1"/>
          <p:nvPr/>
        </p:nvSpPr>
        <p:spPr>
          <a:xfrm>
            <a:off x="5313578" y="3575304"/>
            <a:ext cx="3286354" cy="277063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Anti-corruption, Tax transparency </a:t>
            </a:r>
            <a:r>
              <a:rPr lang="en-US" sz="800" b="1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(GRI 205, 207)</a:t>
            </a:r>
            <a:endParaRPr lang="en-US" sz="800" dirty="0"/>
          </a:p>
        </p:txBody>
      </p:sp>
      <p:sp>
        <p:nvSpPr>
          <p:cNvPr id="43" name="Text 34"/>
          <p:cNvSpPr txBox="1"/>
          <p:nvPr/>
        </p:nvSpPr>
        <p:spPr>
          <a:xfrm>
            <a:off x="5218481" y="4002329"/>
            <a:ext cx="3419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Integration Highlights</a:t>
            </a:r>
            <a:endParaRPr lang="en-US" sz="800" dirty="0"/>
          </a:p>
        </p:txBody>
      </p:sp>
      <p:sp>
        <p:nvSpPr>
          <p:cNvPr id="44" name="Text 35"/>
          <p:cNvSpPr txBox="1"/>
          <p:nvPr/>
        </p:nvSpPr>
        <p:spPr>
          <a:xfrm>
            <a:off x="5332781" y="4200754"/>
            <a:ext cx="3305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Stakeholder-led materiality matrix</a:t>
            </a:r>
            <a:endParaRPr lang="en-US" sz="800" dirty="0"/>
          </a:p>
        </p:txBody>
      </p:sp>
      <p:sp>
        <p:nvSpPr>
          <p:cNvPr id="45" name="Text 36"/>
          <p:cNvSpPr txBox="1"/>
          <p:nvPr/>
        </p:nvSpPr>
        <p:spPr>
          <a:xfrm>
            <a:off x="5332781" y="4381805"/>
            <a:ext cx="3305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ESG goals with time-bound KPIs</a:t>
            </a:r>
            <a:endParaRPr lang="en-US" sz="800" dirty="0"/>
          </a:p>
        </p:txBody>
      </p:sp>
      <p:sp>
        <p:nvSpPr>
          <p:cNvPr id="46" name="Text 37"/>
          <p:cNvSpPr txBox="1"/>
          <p:nvPr/>
        </p:nvSpPr>
        <p:spPr>
          <a:xfrm>
            <a:off x="5332781" y="4561942"/>
            <a:ext cx="330555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Quarterly governance review</a:t>
            </a:r>
            <a:endParaRPr lang="en-US" sz="800" dirty="0"/>
          </a:p>
        </p:txBody>
      </p:sp>
      <p:sp>
        <p:nvSpPr>
          <p:cNvPr id="47" name="Shape 38"/>
          <p:cNvSpPr/>
          <p:nvPr/>
        </p:nvSpPr>
        <p:spPr>
          <a:xfrm>
            <a:off x="8837676" y="1800454"/>
            <a:ext cx="2600554" cy="3095244"/>
          </a:xfrm>
          <a:prstGeom prst="roundRect">
            <a:avLst>
              <a:gd name="adj" fmla="val 77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39"/>
          <p:cNvSpPr/>
          <p:nvPr/>
        </p:nvSpPr>
        <p:spPr>
          <a:xfrm>
            <a:off x="8837676" y="1800454"/>
            <a:ext cx="2600554" cy="28346"/>
          </a:xfrm>
          <a:prstGeom prst="roundRect">
            <a:avLst>
              <a:gd name="adj" fmla="val 70898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8999525" y="2258568"/>
            <a:ext cx="2276856" cy="91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0" name="Text 41"/>
          <p:cNvSpPr txBox="1"/>
          <p:nvPr/>
        </p:nvSpPr>
        <p:spPr>
          <a:xfrm>
            <a:off x="9208922" y="1981505"/>
            <a:ext cx="2143354" cy="20116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991B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Gaps &amp; View </a:t>
            </a:r>
            <a:endParaRPr lang="en-US" sz="100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999525" y="2011680"/>
            <a:ext cx="133502" cy="133502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8999525" y="2375611"/>
            <a:ext cx="236829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Gaps</a:t>
            </a:r>
            <a:endParaRPr lang="en-US" sz="800" dirty="0"/>
          </a:p>
        </p:txBody>
      </p:sp>
      <p:pic>
        <p:nvPicPr>
          <p:cNvPr id="53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999525" y="2611526"/>
            <a:ext cx="114300" cy="114300"/>
          </a:xfrm>
          <a:prstGeom prst="rect">
            <a:avLst/>
          </a:prstGeom>
        </p:spPr>
      </p:pic>
      <p:sp>
        <p:nvSpPr>
          <p:cNvPr id="54" name="Text 43"/>
          <p:cNvSpPr txBox="1"/>
          <p:nvPr/>
        </p:nvSpPr>
        <p:spPr>
          <a:xfrm>
            <a:off x="9323222" y="2611526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Biodiversity (GRI 304):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Marked 'Not Applicable' despite global footprint.</a:t>
            </a:r>
            <a:endParaRPr lang="en-US" sz="9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999525" y="3008376"/>
            <a:ext cx="114300" cy="114300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323222" y="3008376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 KPIs: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Reporting largely India-focused vs global operations.</a:t>
            </a:r>
            <a:endParaRPr lang="en-US" sz="900" dirty="0"/>
          </a:p>
        </p:txBody>
      </p:sp>
      <p:pic>
        <p:nvPicPr>
          <p:cNvPr id="57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999525" y="3404311"/>
            <a:ext cx="114300" cy="114300"/>
          </a:xfrm>
          <a:prstGeom prst="rect">
            <a:avLst/>
          </a:prstGeom>
        </p:spPr>
      </p:pic>
      <p:sp>
        <p:nvSpPr>
          <p:cNvPr id="58" name="Text 45"/>
          <p:cNvSpPr txBox="1"/>
          <p:nvPr/>
        </p:nvSpPr>
        <p:spPr>
          <a:xfrm>
            <a:off x="9323222" y="3404311"/>
            <a:ext cx="20290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3:</a:t>
            </a:r>
            <a:r>
              <a:rPr lang="en-US" sz="9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Limited supplier ESG data &amp; downstream tracking.</a:t>
            </a:r>
            <a:endParaRPr lang="en-US" sz="900" dirty="0"/>
          </a:p>
        </p:txBody>
      </p:sp>
      <p:pic>
        <p:nvPicPr>
          <p:cNvPr id="59" name="Image 11" descr="preencoded.png"/>
          <p:cNvPicPr>
            <a:picLocks noChangeAspect="1"/>
          </p:cNvPicPr>
          <p:nvPr/>
        </p:nvPicPr>
        <p:blipFill>
          <a:blip r:embed="rId12"/>
          <a:srcRect t="-12" b="-12"/>
          <a:stretch/>
        </p:blipFill>
        <p:spPr>
          <a:xfrm>
            <a:off x="8999525" y="3819449"/>
            <a:ext cx="2268626" cy="1026871"/>
          </a:xfrm>
          <a:prstGeom prst="rect">
            <a:avLst/>
          </a:prstGeom>
        </p:spPr>
      </p:pic>
      <p:sp>
        <p:nvSpPr>
          <p:cNvPr id="60" name="Text 46"/>
          <p:cNvSpPr txBox="1"/>
          <p:nvPr/>
        </p:nvSpPr>
        <p:spPr>
          <a:xfrm>
            <a:off x="9152230" y="3933749"/>
            <a:ext cx="2090318" cy="1243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i="1" dirty="0">
                <a:solidFill>
                  <a:srgbClr val="1E40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Takeaway</a:t>
            </a:r>
            <a:endParaRPr lang="en-US" sz="800" dirty="0"/>
          </a:p>
        </p:txBody>
      </p:sp>
      <p:sp>
        <p:nvSpPr>
          <p:cNvPr id="61" name="Shape 47"/>
          <p:cNvSpPr/>
          <p:nvPr/>
        </p:nvSpPr>
        <p:spPr>
          <a:xfrm>
            <a:off x="761695" y="5048402"/>
            <a:ext cx="10668305" cy="666598"/>
          </a:xfrm>
          <a:prstGeom prst="roundRect">
            <a:avLst>
              <a:gd name="adj" fmla="val 1175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48"/>
          <p:cNvSpPr txBox="1"/>
          <p:nvPr/>
        </p:nvSpPr>
        <p:spPr>
          <a:xfrm>
            <a:off x="961949" y="5229454"/>
            <a:ext cx="933602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to</a:t>
            </a:r>
            <a:endParaRPr lang="en-US" sz="900" dirty="0"/>
          </a:p>
          <a:p>
            <a:pPr marL="0" indent="0" algn="l">
              <a:buNone/>
            </a:pPr>
            <a:r>
              <a:rPr lang="en-US" sz="900" b="1" kern="0" spc="9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Flow</a:t>
            </a:r>
            <a:endParaRPr lang="en-US" sz="900" dirty="0"/>
          </a:p>
        </p:txBody>
      </p:sp>
      <p:pic>
        <p:nvPicPr>
          <p:cNvPr id="63" name="Image 12" descr="preencoded.png"/>
          <p:cNvPicPr>
            <a:picLocks noChangeAspect="1"/>
          </p:cNvPicPr>
          <p:nvPr/>
        </p:nvPicPr>
        <p:blipFill>
          <a:blip r:embed="rId13"/>
          <a:srcRect l="-87329" r="-87329"/>
          <a:stretch/>
        </p:blipFill>
        <p:spPr>
          <a:xfrm>
            <a:off x="2173529" y="5148986"/>
            <a:ext cx="733349" cy="267005"/>
          </a:xfrm>
          <a:prstGeom prst="rect">
            <a:avLst/>
          </a:prstGeom>
        </p:spPr>
      </p:pic>
      <p:sp>
        <p:nvSpPr>
          <p:cNvPr id="64" name="Text 49"/>
          <p:cNvSpPr txBox="1"/>
          <p:nvPr/>
        </p:nvSpPr>
        <p:spPr>
          <a:xfrm>
            <a:off x="2103120" y="5454396"/>
            <a:ext cx="88422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 Topics</a:t>
            </a:r>
            <a:endParaRPr lang="en-US" sz="800" dirty="0"/>
          </a:p>
        </p:txBody>
      </p:sp>
      <p:pic>
        <p:nvPicPr>
          <p:cNvPr id="65" name="Image 13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3022092" y="5319979"/>
            <a:ext cx="105156" cy="123444"/>
          </a:xfrm>
          <a:prstGeom prst="rect">
            <a:avLst/>
          </a:prstGeom>
        </p:spPr>
      </p:pic>
      <p:pic>
        <p:nvPicPr>
          <p:cNvPr id="66" name="Image 14" descr="preencoded.png"/>
          <p:cNvPicPr>
            <a:picLocks noChangeAspect="1"/>
          </p:cNvPicPr>
          <p:nvPr/>
        </p:nvPicPr>
        <p:blipFill>
          <a:blip r:embed="rId15"/>
          <a:srcRect l="-107020" r="-107020"/>
          <a:stretch/>
        </p:blipFill>
        <p:spPr>
          <a:xfrm>
            <a:off x="3241548" y="5148986"/>
            <a:ext cx="838505" cy="267005"/>
          </a:xfrm>
          <a:prstGeom prst="rect">
            <a:avLst/>
          </a:prstGeom>
        </p:spPr>
      </p:pic>
      <p:sp>
        <p:nvSpPr>
          <p:cNvPr id="67" name="Text 50"/>
          <p:cNvSpPr txBox="1"/>
          <p:nvPr/>
        </p:nvSpPr>
        <p:spPr>
          <a:xfrm>
            <a:off x="3161081" y="5454396"/>
            <a:ext cx="100949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Goals &amp; KPIs</a:t>
            </a:r>
            <a:endParaRPr lang="en-US" sz="800" dirty="0"/>
          </a:p>
        </p:txBody>
      </p:sp>
      <p:pic>
        <p:nvPicPr>
          <p:cNvPr id="68" name="Image 15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4196182" y="5319979"/>
            <a:ext cx="105156" cy="123444"/>
          </a:xfrm>
          <a:prstGeom prst="rect">
            <a:avLst/>
          </a:prstGeom>
        </p:spPr>
      </p:pic>
      <p:pic>
        <p:nvPicPr>
          <p:cNvPr id="69" name="Image 16" descr="preencoded.png"/>
          <p:cNvPicPr>
            <a:picLocks noChangeAspect="1"/>
          </p:cNvPicPr>
          <p:nvPr/>
        </p:nvPicPr>
        <p:blipFill>
          <a:blip r:embed="rId16"/>
          <a:srcRect l="-54109" r="-54109"/>
          <a:stretch/>
        </p:blipFill>
        <p:spPr>
          <a:xfrm>
            <a:off x="4414723" y="5148986"/>
            <a:ext cx="694944" cy="267005"/>
          </a:xfrm>
          <a:prstGeom prst="rect">
            <a:avLst/>
          </a:prstGeom>
        </p:spPr>
      </p:pic>
      <p:sp>
        <p:nvSpPr>
          <p:cNvPr id="70" name="Text 51"/>
          <p:cNvSpPr txBox="1"/>
          <p:nvPr/>
        </p:nvSpPr>
        <p:spPr>
          <a:xfrm>
            <a:off x="4348886" y="5454396"/>
            <a:ext cx="82753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Gov. Oversight</a:t>
            </a:r>
            <a:endParaRPr lang="en-US" sz="800" dirty="0"/>
          </a:p>
        </p:txBody>
      </p:sp>
      <p:pic>
        <p:nvPicPr>
          <p:cNvPr id="71" name="Image 17" descr="preencoded.png"/>
          <p:cNvPicPr>
            <a:picLocks noChangeAspect="1"/>
          </p:cNvPicPr>
          <p:nvPr/>
        </p:nvPicPr>
        <p:blipFill>
          <a:blip r:embed="rId14"/>
          <a:srcRect t="-1359" b="-1359"/>
          <a:stretch/>
        </p:blipFill>
        <p:spPr>
          <a:xfrm>
            <a:off x="5224882" y="5319979"/>
            <a:ext cx="105156" cy="123444"/>
          </a:xfrm>
          <a:prstGeom prst="rect">
            <a:avLst/>
          </a:prstGeom>
        </p:spPr>
      </p:pic>
      <p:pic>
        <p:nvPicPr>
          <p:cNvPr id="72" name="Image 18" descr="preencoded.png"/>
          <p:cNvPicPr>
            <a:picLocks noChangeAspect="1"/>
          </p:cNvPicPr>
          <p:nvPr/>
        </p:nvPicPr>
        <p:blipFill>
          <a:blip r:embed="rId17"/>
          <a:srcRect l="-85616" r="-85616"/>
          <a:stretch/>
        </p:blipFill>
        <p:spPr>
          <a:xfrm>
            <a:off x="5443423" y="5148986"/>
            <a:ext cx="724205" cy="267005"/>
          </a:xfrm>
          <a:prstGeom prst="rect">
            <a:avLst/>
          </a:prstGeom>
        </p:spPr>
      </p:pic>
      <p:sp>
        <p:nvSpPr>
          <p:cNvPr id="73" name="Text 52"/>
          <p:cNvSpPr txBox="1"/>
          <p:nvPr/>
        </p:nvSpPr>
        <p:spPr>
          <a:xfrm>
            <a:off x="5394046" y="5454396"/>
            <a:ext cx="82296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SDG Outcomes</a:t>
            </a:r>
            <a:endParaRPr lang="en-US" sz="800" dirty="0"/>
          </a:p>
        </p:txBody>
      </p:sp>
      <p:pic>
        <p:nvPicPr>
          <p:cNvPr id="74" name="Image 19" descr="preencoded.png"/>
          <p:cNvPicPr>
            <a:picLocks noChangeAspect="1"/>
          </p:cNvPicPr>
          <p:nvPr/>
        </p:nvPicPr>
        <p:blipFill>
          <a:blip r:embed="rId18"/>
          <a:srcRect t="-2029" b="-2029"/>
          <a:stretch/>
        </p:blipFill>
        <p:spPr>
          <a:xfrm>
            <a:off x="9201607" y="5229454"/>
            <a:ext cx="9144" cy="304495"/>
          </a:xfrm>
          <a:prstGeom prst="rect">
            <a:avLst/>
          </a:prstGeom>
        </p:spPr>
      </p:pic>
      <p:sp>
        <p:nvSpPr>
          <p:cNvPr id="75" name="Text 53"/>
          <p:cNvSpPr txBox="1"/>
          <p:nvPr/>
        </p:nvSpPr>
        <p:spPr>
          <a:xfrm>
            <a:off x="5313578" y="2979115"/>
            <a:ext cx="105430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76" name="Text 54"/>
          <p:cNvSpPr txBox="1"/>
          <p:nvPr/>
        </p:nvSpPr>
        <p:spPr>
          <a:xfrm>
            <a:off x="7004304" y="2819095"/>
            <a:ext cx="1054303" cy="960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79" name="Shape 56"/>
          <p:cNvSpPr/>
          <p:nvPr/>
        </p:nvSpPr>
        <p:spPr>
          <a:xfrm>
            <a:off x="9477756" y="52294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FCC3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0" name="Image 21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9568282" y="5319979"/>
            <a:ext cx="123444" cy="123444"/>
          </a:xfrm>
          <a:prstGeom prst="rect">
            <a:avLst/>
          </a:prstGeom>
        </p:spPr>
      </p:pic>
      <p:sp>
        <p:nvSpPr>
          <p:cNvPr id="81" name="Shape 57"/>
          <p:cNvSpPr/>
          <p:nvPr/>
        </p:nvSpPr>
        <p:spPr>
          <a:xfrm>
            <a:off x="9838944" y="52294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26BDE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2" name="Image 22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9929470" y="5319979"/>
            <a:ext cx="123444" cy="123444"/>
          </a:xfrm>
          <a:prstGeom prst="rect">
            <a:avLst/>
          </a:prstGeom>
        </p:spPr>
      </p:pic>
      <p:sp>
        <p:nvSpPr>
          <p:cNvPr id="83" name="Shape 58"/>
          <p:cNvSpPr/>
          <p:nvPr/>
        </p:nvSpPr>
        <p:spPr>
          <a:xfrm>
            <a:off x="10201046" y="52294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4C9F3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4" name="Image 23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10291572" y="5319979"/>
            <a:ext cx="123444" cy="123444"/>
          </a:xfrm>
          <a:prstGeom prst="rect">
            <a:avLst/>
          </a:prstGeom>
        </p:spPr>
      </p:pic>
      <p:sp>
        <p:nvSpPr>
          <p:cNvPr id="85" name="Shape 59"/>
          <p:cNvSpPr/>
          <p:nvPr/>
        </p:nvSpPr>
        <p:spPr>
          <a:xfrm>
            <a:off x="10563149" y="52294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C5192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6" name="Image 24" descr="preencoded.png"/>
          <p:cNvPicPr>
            <a:picLocks noChangeAspect="1"/>
          </p:cNvPicPr>
          <p:nvPr/>
        </p:nvPicPr>
        <p:blipFill>
          <a:blip r:embed="rId22"/>
          <a:srcRect t="-2012" b="-2012"/>
          <a:stretch/>
        </p:blipFill>
        <p:spPr>
          <a:xfrm>
            <a:off x="10649102" y="5319979"/>
            <a:ext cx="133502" cy="123444"/>
          </a:xfrm>
          <a:prstGeom prst="rect">
            <a:avLst/>
          </a:prstGeom>
        </p:spPr>
      </p:pic>
      <p:sp>
        <p:nvSpPr>
          <p:cNvPr id="87" name="Shape 60"/>
          <p:cNvSpPr/>
          <p:nvPr/>
        </p:nvSpPr>
        <p:spPr>
          <a:xfrm>
            <a:off x="10925251" y="5229454"/>
            <a:ext cx="304495" cy="304495"/>
          </a:xfrm>
          <a:prstGeom prst="roundRect">
            <a:avLst>
              <a:gd name="adj" fmla="val 37538"/>
            </a:avLst>
          </a:prstGeom>
          <a:solidFill>
            <a:srgbClr val="A2194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88" name="Image 25" descr="preencoded.png"/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11015777" y="5319979"/>
            <a:ext cx="123444" cy="123444"/>
          </a:xfrm>
          <a:prstGeom prst="rect">
            <a:avLst/>
          </a:prstGeom>
        </p:spPr>
      </p:pic>
      <p:sp>
        <p:nvSpPr>
          <p:cNvPr id="89" name="Shape 61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0" name="Text 62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91" name="Text 63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15</a:t>
            </a:r>
            <a:endParaRPr lang="en-US" sz="900" dirty="0"/>
          </a:p>
        </p:txBody>
      </p:sp>
      <p:pic>
        <p:nvPicPr>
          <p:cNvPr id="92" name="Image 26" descr="preencoded.png"/>
          <p:cNvPicPr>
            <a:picLocks noChangeAspect="1"/>
          </p:cNvPicPr>
          <p:nvPr/>
        </p:nvPicPr>
        <p:blipFill>
          <a:blip r:embed="rId24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24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556229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LEARNINGS FROM BRSR ANALYSIS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5639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Synthesis of Learning Outcomes from BRSR Framework Study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257739" y="1257300"/>
            <a:ext cx="11814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BRSR FRAMEWORK</a:t>
            </a:r>
            <a:endParaRPr lang="en-US" sz="9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t="-9" b="-9"/>
          <a:stretch/>
        </p:blipFill>
        <p:spPr>
          <a:xfrm>
            <a:off x="761695" y="1686154"/>
            <a:ext cx="5120640" cy="123535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923544" y="1972361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23544" y="1762049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47556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Scope &amp; Framework</a:t>
            </a:r>
            <a:endParaRPr lang="en-US" sz="9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l="-1677" r="-1677"/>
          <a:stretch/>
        </p:blipFill>
        <p:spPr>
          <a:xfrm>
            <a:off x="942746" y="2057400"/>
            <a:ext cx="95098" cy="1051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133856" y="2038198"/>
            <a:ext cx="218815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SEBI Structure: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Section A/B/C framework.</a:t>
            </a:r>
            <a:endParaRPr lang="en-US" sz="800" dirty="0"/>
          </a:p>
        </p:txBody>
      </p:sp>
      <p:sp>
        <p:nvSpPr>
          <p:cNvPr id="13" name="Text 9"/>
          <p:cNvSpPr txBox="1"/>
          <p:nvPr/>
        </p:nvSpPr>
        <p:spPr>
          <a:xfrm>
            <a:off x="1133856" y="2225650"/>
            <a:ext cx="22896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vs Leadership: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Assurance levels differ.</a:t>
            </a:r>
            <a:endParaRPr lang="en-US" sz="80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38174" y="2432304"/>
            <a:ext cx="105156" cy="10515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133856" y="2413102"/>
            <a:ext cx="207477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Global Alignment: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GHG, UNGC, ILO, ISO.</a:t>
            </a:r>
            <a:endParaRPr lang="en-US" sz="80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38174" y="2619756"/>
            <a:ext cx="105156" cy="105156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133856" y="2600554"/>
            <a:ext cx="2686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Boundaries: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Consolidation scope impacts credibility.</a:t>
            </a:r>
            <a:endParaRPr lang="en-US" sz="8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t="-9" b="-9"/>
          <a:stretch/>
        </p:blipFill>
        <p:spPr>
          <a:xfrm>
            <a:off x="761695" y="3034894"/>
            <a:ext cx="5120640" cy="1235354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923544" y="3322015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Text 13"/>
          <p:cNvSpPr txBox="1"/>
          <p:nvPr/>
        </p:nvSpPr>
        <p:spPr>
          <a:xfrm>
            <a:off x="923544" y="3111703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6A34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Disclosure Strengths</a:t>
            </a:r>
            <a:endParaRPr lang="en-US" sz="9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8174" y="3407054"/>
            <a:ext cx="105156" cy="105156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133856" y="3387852"/>
            <a:ext cx="304952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Quantitative Depth: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Metrics, baselines across environment.</a:t>
            </a:r>
            <a:endParaRPr lang="en-US" sz="800" dirty="0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 l="-783" r="-783"/>
          <a:stretch/>
        </p:blipFill>
        <p:spPr>
          <a:xfrm>
            <a:off x="923544" y="3594506"/>
            <a:ext cx="133502" cy="105156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33856" y="3575304"/>
            <a:ext cx="2686507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Linkage: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Material issues to targets to outcomes.</a:t>
            </a:r>
            <a:endParaRPr lang="en-US" sz="800" dirty="0"/>
          </a:p>
        </p:txBody>
      </p:sp>
      <p:pic>
        <p:nvPicPr>
          <p:cNvPr id="25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938174" y="3781958"/>
            <a:ext cx="105156" cy="105156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1133856" y="3762756"/>
            <a:ext cx="2585009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Disclosure: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Climate, water, waste, DEI, HR.</a:t>
            </a:r>
            <a:endParaRPr lang="en-US" sz="800" dirty="0"/>
          </a:p>
        </p:txBody>
      </p:sp>
      <p:pic>
        <p:nvPicPr>
          <p:cNvPr id="2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38174" y="3969410"/>
            <a:ext cx="105156" cy="105156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1133856" y="3950208"/>
            <a:ext cx="2641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6A34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Third-Party Assurance: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Improves data confidence.</a:t>
            </a:r>
            <a:endParaRPr lang="en-US" sz="800" dirty="0"/>
          </a:p>
        </p:txBody>
      </p:sp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12"/>
          <a:srcRect t="-9" b="-9"/>
          <a:stretch/>
        </p:blipFill>
        <p:spPr>
          <a:xfrm>
            <a:off x="761695" y="4384548"/>
            <a:ext cx="5120640" cy="1235354"/>
          </a:xfrm>
          <a:prstGeom prst="rect">
            <a:avLst/>
          </a:prstGeom>
        </p:spPr>
      </p:pic>
      <p:sp>
        <p:nvSpPr>
          <p:cNvPr id="30" name="Shape 18"/>
          <p:cNvSpPr/>
          <p:nvPr/>
        </p:nvSpPr>
        <p:spPr>
          <a:xfrm>
            <a:off x="923544" y="4671670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Text 19"/>
          <p:cNvSpPr txBox="1"/>
          <p:nvPr/>
        </p:nvSpPr>
        <p:spPr>
          <a:xfrm>
            <a:off x="923544" y="4461358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EA58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Gaps &amp; Analyst View</a:t>
            </a:r>
            <a:endParaRPr lang="en-US" sz="900" dirty="0"/>
          </a:p>
        </p:txBody>
      </p:sp>
      <p:pic>
        <p:nvPicPr>
          <p:cNvPr id="32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38174" y="4755794"/>
            <a:ext cx="105156" cy="105156"/>
          </a:xfrm>
          <a:prstGeom prst="rect">
            <a:avLst/>
          </a:prstGeom>
        </p:spPr>
      </p:pic>
      <p:sp>
        <p:nvSpPr>
          <p:cNvPr id="33" name="Text 20"/>
          <p:cNvSpPr txBox="1"/>
          <p:nvPr/>
        </p:nvSpPr>
        <p:spPr>
          <a:xfrm>
            <a:off x="1133856" y="4737506"/>
            <a:ext cx="264170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3 Gaps: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Lack granular pathways, milestones.</a:t>
            </a:r>
            <a:endParaRPr lang="en-US" sz="800" dirty="0"/>
          </a:p>
        </p:txBody>
      </p:sp>
      <p:pic>
        <p:nvPicPr>
          <p:cNvPr id="34" name="Image 11" descr="preencoded.png"/>
          <p:cNvPicPr>
            <a:picLocks noChangeAspect="1"/>
          </p:cNvPicPr>
          <p:nvPr/>
        </p:nvPicPr>
        <p:blipFill>
          <a:blip r:embed="rId14"/>
          <a:srcRect t="-1750" b="-1750"/>
          <a:stretch/>
        </p:blipFill>
        <p:spPr>
          <a:xfrm>
            <a:off x="933602" y="4944161"/>
            <a:ext cx="114300" cy="105156"/>
          </a:xfrm>
          <a:prstGeom prst="rect">
            <a:avLst/>
          </a:prstGeom>
        </p:spPr>
      </p:pic>
      <p:sp>
        <p:nvSpPr>
          <p:cNvPr id="35" name="Text 21"/>
          <p:cNvSpPr txBox="1"/>
          <p:nvPr/>
        </p:nvSpPr>
        <p:spPr>
          <a:xfrm>
            <a:off x="1133856" y="4924958"/>
            <a:ext cx="26645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 Analysis: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Limited transition risk modeling.</a:t>
            </a:r>
            <a:endParaRPr lang="en-US" sz="800" dirty="0"/>
          </a:p>
        </p:txBody>
      </p:sp>
      <p:pic>
        <p:nvPicPr>
          <p:cNvPr id="36" name="Image 12" descr="preencoded.png"/>
          <p:cNvPicPr>
            <a:picLocks noChangeAspect="1"/>
          </p:cNvPicPr>
          <p:nvPr/>
        </p:nvPicPr>
        <p:blipFill>
          <a:blip r:embed="rId15"/>
          <a:srcRect l="-783" r="-783"/>
          <a:stretch/>
        </p:blipFill>
        <p:spPr>
          <a:xfrm>
            <a:off x="923544" y="5131613"/>
            <a:ext cx="133502" cy="105156"/>
          </a:xfrm>
          <a:prstGeom prst="rect">
            <a:avLst/>
          </a:prstGeom>
        </p:spPr>
      </p:pic>
      <p:sp>
        <p:nvSpPr>
          <p:cNvPr id="37" name="Text 22"/>
          <p:cNvSpPr txBox="1"/>
          <p:nvPr/>
        </p:nvSpPr>
        <p:spPr>
          <a:xfrm>
            <a:off x="1133856" y="5112410"/>
            <a:ext cx="28337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Narrative Reliance: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impact less outcome-based.</a:t>
            </a:r>
            <a:endParaRPr lang="en-US" sz="800" dirty="0"/>
          </a:p>
        </p:txBody>
      </p:sp>
      <p:pic>
        <p:nvPicPr>
          <p:cNvPr id="38" name="Image 13" descr="preencoded.png"/>
          <p:cNvPicPr>
            <a:picLocks noChangeAspect="1"/>
          </p:cNvPicPr>
          <p:nvPr/>
        </p:nvPicPr>
        <p:blipFill>
          <a:blip r:embed="rId16"/>
          <a:srcRect l="-783" r="-783"/>
          <a:stretch/>
        </p:blipFill>
        <p:spPr>
          <a:xfrm>
            <a:off x="923544" y="5319065"/>
            <a:ext cx="133502" cy="105156"/>
          </a:xfrm>
          <a:prstGeom prst="rect">
            <a:avLst/>
          </a:prstGeom>
        </p:spPr>
      </p:pic>
      <p:sp>
        <p:nvSpPr>
          <p:cNvPr id="39" name="Text 23"/>
          <p:cNvSpPr txBox="1"/>
          <p:nvPr/>
        </p:nvSpPr>
        <p:spPr>
          <a:xfrm>
            <a:off x="1133856" y="5299862"/>
            <a:ext cx="289041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EA580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Metrics: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Value-chain risk data could strengthen.</a:t>
            </a:r>
            <a:endParaRPr lang="en-US" sz="800" dirty="0"/>
          </a:p>
        </p:txBody>
      </p:sp>
      <p:pic>
        <p:nvPicPr>
          <p:cNvPr id="40" name="Image 14" descr="preencoded.png"/>
          <p:cNvPicPr>
            <a:picLocks noChangeAspect="1"/>
          </p:cNvPicPr>
          <p:nvPr/>
        </p:nvPicPr>
        <p:blipFill>
          <a:blip r:embed="rId17"/>
          <a:srcRect t="-9" b="-9"/>
          <a:stretch/>
        </p:blipFill>
        <p:spPr>
          <a:xfrm>
            <a:off x="6309360" y="1686154"/>
            <a:ext cx="5120640" cy="1235354"/>
          </a:xfrm>
          <a:prstGeom prst="rect">
            <a:avLst/>
          </a:prstGeom>
        </p:spPr>
      </p:pic>
      <p:sp>
        <p:nvSpPr>
          <p:cNvPr id="41" name="Shape 24"/>
          <p:cNvSpPr/>
          <p:nvPr/>
        </p:nvSpPr>
        <p:spPr>
          <a:xfrm>
            <a:off x="6471209" y="1972361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Text 25"/>
          <p:cNvSpPr txBox="1"/>
          <p:nvPr/>
        </p:nvSpPr>
        <p:spPr>
          <a:xfrm>
            <a:off x="6471209" y="1762049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0284C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Key Commitments</a:t>
            </a:r>
            <a:endParaRPr lang="en-US" sz="900" dirty="0"/>
          </a:p>
        </p:txBody>
      </p:sp>
      <p:pic>
        <p:nvPicPr>
          <p:cNvPr id="43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6485839" y="2057400"/>
            <a:ext cx="105156" cy="105156"/>
          </a:xfrm>
          <a:prstGeom prst="rect">
            <a:avLst/>
          </a:prstGeom>
        </p:spPr>
      </p:pic>
      <p:sp>
        <p:nvSpPr>
          <p:cNvPr id="44" name="Text 26"/>
          <p:cNvSpPr txBox="1"/>
          <p:nvPr/>
        </p:nvSpPr>
        <p:spPr>
          <a:xfrm>
            <a:off x="6680606" y="2038198"/>
            <a:ext cx="238109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Net Zero: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1/2/3 long-term commitment.</a:t>
            </a:r>
            <a:endParaRPr lang="en-US" sz="800" dirty="0"/>
          </a:p>
        </p:txBody>
      </p:sp>
      <p:pic>
        <p:nvPicPr>
          <p:cNvPr id="45" name="Image 16" descr="preencoded.png"/>
          <p:cNvPicPr>
            <a:picLocks noChangeAspect="1"/>
          </p:cNvPicPr>
          <p:nvPr/>
        </p:nvPicPr>
        <p:blipFill>
          <a:blip r:embed="rId19"/>
          <a:srcRect/>
          <a:stretch/>
        </p:blipFill>
        <p:spPr>
          <a:xfrm>
            <a:off x="6485839" y="2244852"/>
            <a:ext cx="105156" cy="105156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6680606" y="2225650"/>
            <a:ext cx="2833726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Time-Bound: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Renewable, water, waste, supplier targets.</a:t>
            </a:r>
            <a:endParaRPr lang="en-US" sz="800" dirty="0"/>
          </a:p>
        </p:txBody>
      </p:sp>
      <p:pic>
        <p:nvPicPr>
          <p:cNvPr id="47" name="Image 17" descr="preencoded.png"/>
          <p:cNvPicPr>
            <a:picLocks noChangeAspect="1"/>
          </p:cNvPicPr>
          <p:nvPr/>
        </p:nvPicPr>
        <p:blipFill>
          <a:blip r:embed="rId20"/>
          <a:srcRect l="-783" r="-783"/>
          <a:stretch/>
        </p:blipFill>
        <p:spPr>
          <a:xfrm>
            <a:off x="6471209" y="2432304"/>
            <a:ext cx="133502" cy="105156"/>
          </a:xfrm>
          <a:prstGeom prst="rect">
            <a:avLst/>
          </a:prstGeom>
        </p:spPr>
      </p:pic>
      <p:sp>
        <p:nvSpPr>
          <p:cNvPr id="48" name="Text 28"/>
          <p:cNvSpPr txBox="1"/>
          <p:nvPr/>
        </p:nvSpPr>
        <p:spPr>
          <a:xfrm>
            <a:off x="6680606" y="2413102"/>
            <a:ext cx="274320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Value-Chain: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Supplier engagement for systemic risks.</a:t>
            </a:r>
            <a:endParaRPr lang="en-US" sz="800" dirty="0"/>
          </a:p>
        </p:txBody>
      </p:sp>
      <p:pic>
        <p:nvPicPr>
          <p:cNvPr id="49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6485839" y="2619756"/>
            <a:ext cx="105156" cy="105156"/>
          </a:xfrm>
          <a:prstGeom prst="rect">
            <a:avLst/>
          </a:prstGeom>
        </p:spPr>
      </p:pic>
      <p:sp>
        <p:nvSpPr>
          <p:cNvPr id="50" name="Text 29"/>
          <p:cNvSpPr txBox="1"/>
          <p:nvPr/>
        </p:nvSpPr>
        <p:spPr>
          <a:xfrm>
            <a:off x="6680606" y="2600554"/>
            <a:ext cx="239207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284C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Integration: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embedded not CSR.</a:t>
            </a:r>
            <a:endParaRPr lang="en-US" sz="800" dirty="0"/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22"/>
          <a:srcRect t="-9" b="-9"/>
          <a:stretch/>
        </p:blipFill>
        <p:spPr>
          <a:xfrm>
            <a:off x="6309360" y="3034894"/>
            <a:ext cx="5120640" cy="1235354"/>
          </a:xfrm>
          <a:prstGeom prst="rect">
            <a:avLst/>
          </a:prstGeom>
        </p:spPr>
      </p:pic>
      <p:sp>
        <p:nvSpPr>
          <p:cNvPr id="52" name="Shape 30"/>
          <p:cNvSpPr/>
          <p:nvPr/>
        </p:nvSpPr>
        <p:spPr>
          <a:xfrm>
            <a:off x="6471209" y="3322015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Text 31"/>
          <p:cNvSpPr txBox="1"/>
          <p:nvPr/>
        </p:nvSpPr>
        <p:spPr>
          <a:xfrm>
            <a:off x="6471209" y="3111703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9333E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Strategy to Impact Flow</a:t>
            </a:r>
            <a:endParaRPr lang="en-US" sz="900" dirty="0"/>
          </a:p>
        </p:txBody>
      </p:sp>
      <p:pic>
        <p:nvPicPr>
          <p:cNvPr id="54" name="Image 20" descr="preencoded.png"/>
          <p:cNvPicPr>
            <a:picLocks noChangeAspect="1"/>
          </p:cNvPicPr>
          <p:nvPr/>
        </p:nvPicPr>
        <p:blipFill>
          <a:blip r:embed="rId23"/>
          <a:srcRect l="-1677" r="-1677"/>
          <a:stretch/>
        </p:blipFill>
        <p:spPr>
          <a:xfrm>
            <a:off x="6490411" y="3407054"/>
            <a:ext cx="95098" cy="105156"/>
          </a:xfrm>
          <a:prstGeom prst="rect">
            <a:avLst/>
          </a:prstGeom>
        </p:spPr>
      </p:pic>
      <p:sp>
        <p:nvSpPr>
          <p:cNvPr id="55" name="Text 32"/>
          <p:cNvSpPr txBox="1"/>
          <p:nvPr/>
        </p:nvSpPr>
        <p:spPr>
          <a:xfrm>
            <a:off x="6680606" y="3387852"/>
            <a:ext cx="24030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Priorities to Programs: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 oversight.</a:t>
            </a:r>
            <a:endParaRPr lang="en-US" sz="800" dirty="0"/>
          </a:p>
        </p:txBody>
      </p:sp>
      <p:pic>
        <p:nvPicPr>
          <p:cNvPr id="56" name="Image 2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6485839" y="3594506"/>
            <a:ext cx="105156" cy="105156"/>
          </a:xfrm>
          <a:prstGeom prst="rect">
            <a:avLst/>
          </a:prstGeom>
        </p:spPr>
      </p:pic>
      <p:sp>
        <p:nvSpPr>
          <p:cNvPr id="57" name="Text 33"/>
          <p:cNvSpPr txBox="1"/>
          <p:nvPr/>
        </p:nvSpPr>
        <p:spPr>
          <a:xfrm>
            <a:off x="6680606" y="3575304"/>
            <a:ext cx="244876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 Tracking: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monitoring enabled.</a:t>
            </a:r>
            <a:endParaRPr lang="en-US" sz="800" dirty="0"/>
          </a:p>
        </p:txBody>
      </p:sp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25"/>
          <a:srcRect t="-1750" b="-1750"/>
          <a:stretch/>
        </p:blipFill>
        <p:spPr>
          <a:xfrm>
            <a:off x="6480353" y="3781958"/>
            <a:ext cx="114300" cy="105156"/>
          </a:xfrm>
          <a:prstGeom prst="rect">
            <a:avLst/>
          </a:prstGeom>
        </p:spPr>
      </p:pic>
      <p:sp>
        <p:nvSpPr>
          <p:cNvPr id="59" name="Text 34"/>
          <p:cNvSpPr txBox="1"/>
          <p:nvPr/>
        </p:nvSpPr>
        <p:spPr>
          <a:xfrm>
            <a:off x="6680606" y="3762756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Outcomes: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Risk mitigation, efficiency, value creation.</a:t>
            </a:r>
            <a:endParaRPr lang="en-US" sz="800" dirty="0"/>
          </a:p>
        </p:txBody>
      </p:sp>
      <p:pic>
        <p:nvPicPr>
          <p:cNvPr id="60" name="Image 23" descr="preencoded.png"/>
          <p:cNvPicPr>
            <a:picLocks noChangeAspect="1"/>
          </p:cNvPicPr>
          <p:nvPr/>
        </p:nvPicPr>
        <p:blipFill>
          <a:blip r:embed="rId26"/>
          <a:srcRect t="-1750" b="-1750"/>
          <a:stretch/>
        </p:blipFill>
        <p:spPr>
          <a:xfrm>
            <a:off x="6480353" y="3969410"/>
            <a:ext cx="114300" cy="105156"/>
          </a:xfrm>
          <a:prstGeom prst="rect">
            <a:avLst/>
          </a:prstGeom>
        </p:spPr>
      </p:pic>
      <p:sp>
        <p:nvSpPr>
          <p:cNvPr id="61" name="Text 35"/>
          <p:cNvSpPr txBox="1"/>
          <p:nvPr/>
        </p:nvSpPr>
        <p:spPr>
          <a:xfrm>
            <a:off x="6680606" y="3950208"/>
            <a:ext cx="266456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9333E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Intent to Impact: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Strategy execution demonstration.</a:t>
            </a:r>
            <a:endParaRPr lang="en-US" sz="800" dirty="0"/>
          </a:p>
        </p:txBody>
      </p:sp>
      <p:pic>
        <p:nvPicPr>
          <p:cNvPr id="62" name="Image 24" descr="preencoded.png"/>
          <p:cNvPicPr>
            <a:picLocks noChangeAspect="1"/>
          </p:cNvPicPr>
          <p:nvPr/>
        </p:nvPicPr>
        <p:blipFill>
          <a:blip r:embed="rId27"/>
          <a:srcRect t="-9" b="-9"/>
          <a:stretch/>
        </p:blipFill>
        <p:spPr>
          <a:xfrm>
            <a:off x="6309360" y="4384548"/>
            <a:ext cx="5120640" cy="1235354"/>
          </a:xfrm>
          <a:prstGeom prst="rect">
            <a:avLst/>
          </a:prstGeom>
        </p:spPr>
      </p:pic>
      <p:sp>
        <p:nvSpPr>
          <p:cNvPr id="63" name="Shape 36"/>
          <p:cNvSpPr/>
          <p:nvPr/>
        </p:nvSpPr>
        <p:spPr>
          <a:xfrm>
            <a:off x="6471209" y="4671670"/>
            <a:ext cx="4848149" cy="9144"/>
          </a:xfrm>
          <a:prstGeom prst="rect">
            <a:avLst/>
          </a:prstGeom>
          <a:solidFill>
            <a:srgbClr val="000000">
              <a:alpha val="6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Text 37"/>
          <p:cNvSpPr txBox="1"/>
          <p:nvPr/>
        </p:nvSpPr>
        <p:spPr>
          <a:xfrm>
            <a:off x="6471209" y="4461358"/>
            <a:ext cx="4963363" cy="171907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14B8A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Analyst Takeaway</a:t>
            </a:r>
            <a:endParaRPr lang="en-US" sz="900" dirty="0"/>
          </a:p>
        </p:txBody>
      </p:sp>
      <p:pic>
        <p:nvPicPr>
          <p:cNvPr id="65" name="Image 25" descr="preencoded.png"/>
          <p:cNvPicPr>
            <a:picLocks noChangeAspect="1"/>
          </p:cNvPicPr>
          <p:nvPr/>
        </p:nvPicPr>
        <p:blipFill>
          <a:blip r:embed="rId28"/>
          <a:srcRect t="-1750" b="-1750"/>
          <a:stretch/>
        </p:blipFill>
        <p:spPr>
          <a:xfrm>
            <a:off x="6480353" y="4755794"/>
            <a:ext cx="114300" cy="105156"/>
          </a:xfrm>
          <a:prstGeom prst="rect">
            <a:avLst/>
          </a:prstGeom>
        </p:spPr>
      </p:pic>
      <p:sp>
        <p:nvSpPr>
          <p:cNvPr id="66" name="Text 38"/>
          <p:cNvSpPr txBox="1"/>
          <p:nvPr/>
        </p:nvSpPr>
        <p:spPr>
          <a:xfrm>
            <a:off x="6680606" y="4737506"/>
            <a:ext cx="2403043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B8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Maturity Evaluation: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 execution quality.</a:t>
            </a:r>
            <a:endParaRPr lang="en-US" sz="800" dirty="0"/>
          </a:p>
        </p:txBody>
      </p:sp>
      <p:pic>
        <p:nvPicPr>
          <p:cNvPr id="67" name="Image 26" descr="preencoded.png"/>
          <p:cNvPicPr>
            <a:picLocks noChangeAspect="1"/>
          </p:cNvPicPr>
          <p:nvPr/>
        </p:nvPicPr>
        <p:blipFill>
          <a:blip r:embed="rId29"/>
          <a:srcRect l="-783" r="-783"/>
          <a:stretch/>
        </p:blipFill>
        <p:spPr>
          <a:xfrm>
            <a:off x="6471209" y="4944161"/>
            <a:ext cx="133502" cy="105156"/>
          </a:xfrm>
          <a:prstGeom prst="rect">
            <a:avLst/>
          </a:prstGeom>
        </p:spPr>
      </p:pic>
      <p:sp>
        <p:nvSpPr>
          <p:cNvPr id="68" name="Text 39"/>
          <p:cNvSpPr txBox="1"/>
          <p:nvPr/>
        </p:nvSpPr>
        <p:spPr>
          <a:xfrm>
            <a:off x="6680606" y="4924958"/>
            <a:ext cx="2675534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B8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Compliance vs Strategy: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difference.</a:t>
            </a:r>
            <a:endParaRPr lang="en-US" sz="800" dirty="0"/>
          </a:p>
        </p:txBody>
      </p:sp>
      <p:pic>
        <p:nvPicPr>
          <p:cNvPr id="69" name="Image 27" descr="preencoded.png"/>
          <p:cNvPicPr>
            <a:picLocks noChangeAspect="1"/>
          </p:cNvPicPr>
          <p:nvPr/>
        </p:nvPicPr>
        <p:blipFill>
          <a:blip r:embed="rId30"/>
          <a:srcRect/>
          <a:stretch/>
        </p:blipFill>
        <p:spPr>
          <a:xfrm>
            <a:off x="6485839" y="5131613"/>
            <a:ext cx="105156" cy="105156"/>
          </a:xfrm>
          <a:prstGeom prst="rect">
            <a:avLst/>
          </a:prstGeom>
        </p:spPr>
      </p:pic>
      <p:sp>
        <p:nvSpPr>
          <p:cNvPr id="70" name="Text 40"/>
          <p:cNvSpPr txBox="1"/>
          <p:nvPr/>
        </p:nvSpPr>
        <p:spPr>
          <a:xfrm>
            <a:off x="6680606" y="5112410"/>
            <a:ext cx="2766060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14B8A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Analyst Tool:</a:t>
            </a:r>
            <a:r>
              <a:rPr lang="en-US" sz="800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Governance, risk, resilience assessment.</a:t>
            </a:r>
            <a:endParaRPr lang="en-US" sz="800" dirty="0"/>
          </a:p>
        </p:txBody>
      </p:sp>
      <p:sp>
        <p:nvSpPr>
          <p:cNvPr id="71" name="Shape 41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2" name="Text 42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73" name="Text 43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16</a:t>
            </a:r>
            <a:endParaRPr lang="en-US" sz="900" dirty="0"/>
          </a:p>
        </p:txBody>
      </p:sp>
      <p:pic>
        <p:nvPicPr>
          <p:cNvPr id="74" name="Image 28" descr="preencoded.png"/>
          <p:cNvPicPr>
            <a:picLocks noChangeAspect="1"/>
          </p:cNvPicPr>
          <p:nvPr/>
        </p:nvPicPr>
        <p:blipFill>
          <a:blip r:embed="rId31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58585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IFRS S1 &amp; S2 WORK IN PRACTICE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64300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From Materiality to Disclosure – Real-World Application (Vale 2024 Report)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0169957" y="1257300"/>
            <a:ext cx="126370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45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IFRS APPLICATION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0056" y="1800454"/>
            <a:ext cx="9144" cy="328635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761695" y="1800454"/>
            <a:ext cx="4028846" cy="2232965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76502" y="1990649"/>
            <a:ext cx="34381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15E5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Key Concept: Financial Materiality </a:t>
            </a:r>
            <a:endParaRPr lang="en-US" sz="120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rcRect t="-180" b="-180"/>
          <a:stretch/>
        </p:blipFill>
        <p:spPr>
          <a:xfrm>
            <a:off x="990295" y="2029054"/>
            <a:ext cx="19019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761695" y="4262018"/>
            <a:ext cx="4028846" cy="1133856"/>
          </a:xfrm>
          <a:prstGeom prst="roundRect">
            <a:avLst>
              <a:gd name="adj" fmla="val 5422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119226" y="4423867"/>
            <a:ext cx="362468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45" dirty="0">
                <a:solidFill>
                  <a:srgbClr val="2563E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Vale Example 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923544" y="4671670"/>
            <a:ext cx="3781958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Vale reports </a:t>
            </a:r>
            <a:r>
              <a:rPr lang="en-US" sz="900" b="1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climate</a:t>
            </a:r>
            <a:r>
              <a:rPr lang="en-US" sz="9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its IFRS-aligned disclosure because it determined climate is the only sustainability topic currently meeting the financial materiality threshold for enterprise value. 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761695" y="5080406"/>
            <a:ext cx="10668305" cy="914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>
                <a:alpha val="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1695" y="5242255"/>
            <a:ext cx="5257800" cy="476402"/>
          </a:xfrm>
          <a:prstGeom prst="roundRect">
            <a:avLst>
              <a:gd name="adj" fmla="val 15355"/>
            </a:avLst>
          </a:prstGeom>
          <a:solidFill>
            <a:srgbClr val="F8FAFC"/>
          </a:solidFill>
          <a:ln/>
        </p:spPr>
      </p:sp>
      <p:sp>
        <p:nvSpPr>
          <p:cNvPr id="17" name="Shape 13"/>
          <p:cNvSpPr/>
          <p:nvPr/>
        </p:nvSpPr>
        <p:spPr>
          <a:xfrm>
            <a:off x="761695" y="5242255"/>
            <a:ext cx="19202" cy="476402"/>
          </a:xfrm>
          <a:prstGeom prst="roundRect">
            <a:avLst>
              <a:gd name="adj" fmla="val 380960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95198" y="5338267"/>
            <a:ext cx="105156" cy="105156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095451" y="5319065"/>
            <a:ext cx="4886554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Validation Rule:</a:t>
            </a:r>
            <a:r>
              <a:rPr lang="en-US" sz="8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Materiality is confirmed only when specific financial impacts (revenue, capex, asset value) are explained.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172200" y="5242255"/>
            <a:ext cx="5257800" cy="476402"/>
          </a:xfrm>
          <a:prstGeom prst="roundRect">
            <a:avLst>
              <a:gd name="adj" fmla="val 15355"/>
            </a:avLst>
          </a:prstGeom>
          <a:solidFill>
            <a:srgbClr val="F8FAFC"/>
          </a:solidFill>
          <a:ln/>
        </p:spPr>
      </p:sp>
      <p:sp>
        <p:nvSpPr>
          <p:cNvPr id="21" name="Shape 16"/>
          <p:cNvSpPr/>
          <p:nvPr/>
        </p:nvSpPr>
        <p:spPr>
          <a:xfrm>
            <a:off x="6172200" y="5242255"/>
            <a:ext cx="19202" cy="476402"/>
          </a:xfrm>
          <a:prstGeom prst="roundRect">
            <a:avLst>
              <a:gd name="adj" fmla="val 380960"/>
            </a:avLst>
          </a:prstGeom>
          <a:solidFill>
            <a:srgbClr val="94A3B8"/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2174" r="-2174"/>
          <a:stretch/>
        </p:blipFill>
        <p:spPr>
          <a:xfrm>
            <a:off x="6305702" y="5338267"/>
            <a:ext cx="123444" cy="1051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6524244" y="5319065"/>
            <a:ext cx="4867351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Disclosure Requirement:</a:t>
            </a:r>
            <a:r>
              <a:rPr lang="en-US" sz="800" dirty="0">
                <a:solidFill>
                  <a:srgbClr val="47556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Management judgement, assumptions, and estimation uncertainty must be explicitly disclosed.</a:t>
            </a:r>
            <a:endParaRPr lang="en-US" sz="800" dirty="0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rcRect l="-4000" r="-4000"/>
          <a:stretch/>
        </p:blipFill>
        <p:spPr>
          <a:xfrm>
            <a:off x="923544" y="4447642"/>
            <a:ext cx="123444" cy="1143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990295" y="2333549"/>
            <a:ext cx="36868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IFRS focuses strictly on information that affects </a:t>
            </a:r>
            <a:r>
              <a:rPr lang="en-US" sz="10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cash flows, cost of capital, and access to finance</a:t>
            </a: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990295" y="2836469"/>
            <a:ext cx="36868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Sustainability topics are </a:t>
            </a:r>
            <a:r>
              <a:rPr lang="en-US" sz="10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filtered</a:t>
            </a: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before reporting begins—not all ESG topics qualify.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990295" y="3339389"/>
            <a:ext cx="368686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Only topics passing the </a:t>
            </a:r>
            <a:r>
              <a:rPr lang="en-US" sz="1000" b="1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financial materiality threshold</a:t>
            </a:r>
            <a:r>
              <a:rPr lang="en-US" sz="1000" dirty="0">
                <a:solidFill>
                  <a:srgbClr val="33415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are disclosed to investors.</a:t>
            </a:r>
            <a:endParaRPr lang="en-US" sz="100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rcRect l="-398" r="-398"/>
          <a:stretch/>
        </p:blipFill>
        <p:spPr>
          <a:xfrm>
            <a:off x="5544007" y="1990649"/>
            <a:ext cx="19202" cy="2899562"/>
          </a:xfrm>
          <a:prstGeom prst="rect">
            <a:avLst/>
          </a:prstGeom>
        </p:spPr>
      </p:pic>
      <p:sp>
        <p:nvSpPr>
          <p:cNvPr id="29" name="Shape 21"/>
          <p:cNvSpPr/>
          <p:nvPr/>
        </p:nvSpPr>
        <p:spPr>
          <a:xfrm>
            <a:off x="5257800" y="1800454"/>
            <a:ext cx="61722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5419649" y="197144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5391302" y="1971446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5838444" y="1923898"/>
            <a:ext cx="47247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Risks &amp; Opportunities</a:t>
            </a:r>
            <a:endParaRPr lang="en-US" sz="1000" dirty="0"/>
          </a:p>
        </p:txBody>
      </p:sp>
      <p:sp>
        <p:nvSpPr>
          <p:cNvPr id="33" name="Text 25"/>
          <p:cNvSpPr txBox="1"/>
          <p:nvPr/>
        </p:nvSpPr>
        <p:spPr>
          <a:xfrm>
            <a:off x="5838444" y="2137867"/>
            <a:ext cx="52962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Scan universe of sustainability issues (Risk Register, SASB Industry Standards, Regulation).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257800" y="2523744"/>
            <a:ext cx="61722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5419649" y="2695651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28"/>
          <p:cNvSpPr txBox="1"/>
          <p:nvPr/>
        </p:nvSpPr>
        <p:spPr>
          <a:xfrm>
            <a:off x="5391302" y="2695651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5838444" y="2648102"/>
            <a:ext cx="50584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Assess Financial Materiality</a:t>
            </a:r>
            <a:endParaRPr lang="en-US" sz="1000" dirty="0"/>
          </a:p>
        </p:txBody>
      </p:sp>
      <p:sp>
        <p:nvSpPr>
          <p:cNvPr id="38" name="Text 30"/>
          <p:cNvSpPr txBox="1"/>
          <p:nvPr/>
        </p:nvSpPr>
        <p:spPr>
          <a:xfrm>
            <a:off x="5838444" y="2861158"/>
            <a:ext cx="562996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Evaluate Magnitude × Likelihood of impact on enterprise value over short, medium, and long term.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5257800" y="3247949"/>
            <a:ext cx="6172200" cy="609905"/>
          </a:xfrm>
          <a:prstGeom prst="roundRect">
            <a:avLst>
              <a:gd name="adj" fmla="val 187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5419649" y="3419856"/>
            <a:ext cx="267005" cy="267005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5391302" y="3419856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900" dirty="0"/>
          </a:p>
        </p:txBody>
      </p:sp>
      <p:sp>
        <p:nvSpPr>
          <p:cNvPr id="42" name="Text 34"/>
          <p:cNvSpPr txBox="1"/>
          <p:nvPr/>
        </p:nvSpPr>
        <p:spPr>
          <a:xfrm>
            <a:off x="5838444" y="3372307"/>
            <a:ext cx="54864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Define Reporting Boundary</a:t>
            </a:r>
            <a:endParaRPr lang="en-US" sz="1000" dirty="0"/>
          </a:p>
        </p:txBody>
      </p:sp>
      <p:sp>
        <p:nvSpPr>
          <p:cNvPr id="43" name="Text 35"/>
          <p:cNvSpPr txBox="1"/>
          <p:nvPr/>
        </p:nvSpPr>
        <p:spPr>
          <a:xfrm>
            <a:off x="5838444" y="3585362"/>
            <a:ext cx="60579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Align with financial statements (consolidation scope). Include value chain only if financial exposure exists.</a:t>
            </a:r>
            <a:endParaRPr lang="en-US" sz="900" dirty="0"/>
          </a:p>
        </p:txBody>
      </p:sp>
      <p:sp>
        <p:nvSpPr>
          <p:cNvPr id="44" name="Shape 36"/>
          <p:cNvSpPr/>
          <p:nvPr/>
        </p:nvSpPr>
        <p:spPr>
          <a:xfrm>
            <a:off x="5257800" y="3972154"/>
            <a:ext cx="6172200" cy="629107"/>
          </a:xfrm>
          <a:prstGeom prst="roundRect">
            <a:avLst>
              <a:gd name="adj" fmla="val 17618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45" name="Shape 37"/>
          <p:cNvSpPr/>
          <p:nvPr/>
        </p:nvSpPr>
        <p:spPr>
          <a:xfrm>
            <a:off x="5419649" y="4153205"/>
            <a:ext cx="267005" cy="267005"/>
          </a:xfrm>
          <a:prstGeom prst="ellipse">
            <a:avLst/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8"/>
          <p:cNvSpPr txBox="1"/>
          <p:nvPr/>
        </p:nvSpPr>
        <p:spPr>
          <a:xfrm>
            <a:off x="5391302" y="4153205"/>
            <a:ext cx="324612" cy="2670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900" dirty="0"/>
          </a:p>
        </p:txBody>
      </p:sp>
      <p:sp>
        <p:nvSpPr>
          <p:cNvPr id="47" name="Text 39"/>
          <p:cNvSpPr txBox="1"/>
          <p:nvPr/>
        </p:nvSpPr>
        <p:spPr>
          <a:xfrm>
            <a:off x="5838444" y="4095598"/>
            <a:ext cx="400050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E293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Disclose Under IFRS Structure</a:t>
            </a:r>
            <a:endParaRPr lang="en-US" sz="1000" dirty="0"/>
          </a:p>
        </p:txBody>
      </p:sp>
      <p:sp>
        <p:nvSpPr>
          <p:cNvPr id="48" name="Text 40"/>
          <p:cNvSpPr txBox="1"/>
          <p:nvPr/>
        </p:nvSpPr>
        <p:spPr>
          <a:xfrm>
            <a:off x="5838444" y="4327855"/>
            <a:ext cx="400050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22" dirty="0">
                <a:solidFill>
                  <a:srgbClr val="64748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Governance  Strategy  Risk Mgmt  Metrics &amp; Targets </a:t>
            </a:r>
            <a:endParaRPr lang="en-US" sz="900" dirty="0"/>
          </a:p>
        </p:txBody>
      </p:sp>
      <p:sp>
        <p:nvSpPr>
          <p:cNvPr id="52" name="Shape 41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3" name="Text 42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54" name="Text 43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16</a:t>
            </a:r>
            <a:endParaRPr lang="en-US" sz="900" dirty="0"/>
          </a:p>
        </p:txBody>
      </p:sp>
      <p:pic>
        <p:nvPicPr>
          <p:cNvPr id="55" name="Image 9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61695" y="156179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1695" y="761695"/>
            <a:ext cx="392460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kern="0" spc="-56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SKILLS &amp; TOOLSET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61695" y="1143000"/>
            <a:ext cx="44961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Core ESG Competencies (Foundational &amp; Applied)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956902" y="1257300"/>
            <a:ext cx="14767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kern="0" spc="9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PORTFOLIO SUMMARY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61695" y="2085746"/>
            <a:ext cx="51050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99439" y="1800454"/>
            <a:ext cx="4944161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Domain Expertise </a:t>
            </a:r>
            <a:endParaRPr lang="en-US" sz="10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rcRect l="-3425" r="-3425"/>
          <a:stretch/>
        </p:blipFill>
        <p:spPr>
          <a:xfrm>
            <a:off x="761695" y="1836115"/>
            <a:ext cx="142646" cy="13350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61695" y="2253996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86054" y="2377440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972007" y="2482596"/>
            <a:ext cx="209398" cy="171907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380744" y="2377440"/>
            <a:ext cx="3943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GHG Accounting</a:t>
            </a:r>
            <a:endParaRPr lang="en-US" sz="1000" dirty="0"/>
          </a:p>
        </p:txBody>
      </p:sp>
      <p:sp>
        <p:nvSpPr>
          <p:cNvPr id="15" name="Text 11"/>
          <p:cNvSpPr txBox="1"/>
          <p:nvPr/>
        </p:nvSpPr>
        <p:spPr>
          <a:xfrm>
            <a:off x="1380744" y="2561234"/>
            <a:ext cx="45153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1–2 calculations, Scope 3 category understanding, boundary setting.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761695" y="3233318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86054" y="3357677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90295" y="3461918"/>
            <a:ext cx="171907" cy="171907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380744" y="3357677"/>
            <a:ext cx="388620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Materiality &amp; Risk</a:t>
            </a:r>
            <a:endParaRPr lang="en-US" sz="1000" dirty="0"/>
          </a:p>
        </p:txBody>
      </p:sp>
      <p:sp>
        <p:nvSpPr>
          <p:cNvPr id="20" name="Text 15"/>
          <p:cNvSpPr txBox="1"/>
          <p:nvPr/>
        </p:nvSpPr>
        <p:spPr>
          <a:xfrm>
            <a:off x="1380744" y="3540557"/>
            <a:ext cx="44522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Stakeholder-led materiality, impact vs financial materiality, TCFD concepts.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61695" y="4213555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86054" y="4336999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981151" y="4442155"/>
            <a:ext cx="190195" cy="17190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380744" y="4336999"/>
            <a:ext cx="38011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Sustainable Finance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380744" y="4520794"/>
            <a:ext cx="43534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SLLs &amp; green bonds (conceptual), KPI–SPT linkage, case-based analysis.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761695" y="5192878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86054" y="5317236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842" b="-842"/>
          <a:stretch/>
        </p:blipFill>
        <p:spPr>
          <a:xfrm>
            <a:off x="981151" y="5421478"/>
            <a:ext cx="190195" cy="171907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380744" y="5317236"/>
            <a:ext cx="35149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Reporting Frameworks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1380744" y="5501030"/>
            <a:ext cx="402518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GRI, SASB, IFRS (ISSB), BRSR – disclosure mapping &amp; gap analysis.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324905" y="2085746"/>
            <a:ext cx="5105095" cy="19202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2" name="Text 25"/>
          <p:cNvSpPr txBox="1"/>
          <p:nvPr/>
        </p:nvSpPr>
        <p:spPr>
          <a:xfrm>
            <a:off x="6601054" y="1800454"/>
            <a:ext cx="4905756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4" dirty="0">
                <a:solidFill>
                  <a:srgbClr val="1F293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Technical &amp; Analytical Tools </a:t>
            </a:r>
            <a:endParaRPr lang="en-US" sz="1000" dirty="0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rcRect l="-4247" r="-4247"/>
          <a:stretch/>
        </p:blipFill>
        <p:spPr>
          <a:xfrm>
            <a:off x="6324905" y="1836115"/>
            <a:ext cx="181051" cy="133502"/>
          </a:xfrm>
          <a:prstGeom prst="rect">
            <a:avLst/>
          </a:prstGeom>
        </p:spPr>
      </p:pic>
      <p:sp>
        <p:nvSpPr>
          <p:cNvPr id="34" name="Shape 26"/>
          <p:cNvSpPr/>
          <p:nvPr/>
        </p:nvSpPr>
        <p:spPr>
          <a:xfrm>
            <a:off x="6324905" y="2253996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448349" y="2377440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rcRect t="-2222" b="-2222"/>
          <a:stretch/>
        </p:blipFill>
        <p:spPr>
          <a:xfrm>
            <a:off x="6577279" y="2482596"/>
            <a:ext cx="123444" cy="171907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943954" y="2377440"/>
            <a:ext cx="37911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Excel</a:t>
            </a:r>
            <a:endParaRPr lang="en-US" sz="1000" dirty="0"/>
          </a:p>
        </p:txBody>
      </p:sp>
      <p:sp>
        <p:nvSpPr>
          <p:cNvPr id="38" name="Text 29"/>
          <p:cNvSpPr txBox="1"/>
          <p:nvPr/>
        </p:nvSpPr>
        <p:spPr>
          <a:xfrm>
            <a:off x="6943954" y="2561234"/>
            <a:ext cx="434248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data analysis, emissions &amp; KPI tracking, basic scenario comparison.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6324905" y="3233318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1"/>
          <p:cNvSpPr/>
          <p:nvPr/>
        </p:nvSpPr>
        <p:spPr>
          <a:xfrm>
            <a:off x="6448349" y="3357677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 r:embed="rId10"/>
          <a:srcRect t="-842" b="-842"/>
          <a:stretch/>
        </p:blipFill>
        <p:spPr>
          <a:xfrm>
            <a:off x="6543446" y="3461918"/>
            <a:ext cx="190195" cy="17190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6943954" y="3357677"/>
            <a:ext cx="30010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Visualization</a:t>
            </a:r>
            <a:endParaRPr lang="en-US" sz="1000" dirty="0"/>
          </a:p>
        </p:txBody>
      </p:sp>
      <p:sp>
        <p:nvSpPr>
          <p:cNvPr id="43" name="Text 33"/>
          <p:cNvSpPr txBox="1"/>
          <p:nvPr/>
        </p:nvSpPr>
        <p:spPr>
          <a:xfrm>
            <a:off x="6943954" y="3540557"/>
            <a:ext cx="34335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dashboards &amp; summary reports (Power BI, Tableau).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324905" y="4213555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35"/>
          <p:cNvSpPr/>
          <p:nvPr/>
        </p:nvSpPr>
        <p:spPr>
          <a:xfrm>
            <a:off x="6448349" y="4336999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553505" y="4442155"/>
            <a:ext cx="171907" cy="171907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6943954" y="4336999"/>
            <a:ext cx="3277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Governance</a:t>
            </a:r>
            <a:endParaRPr lang="en-US" sz="1000" dirty="0"/>
          </a:p>
        </p:txBody>
      </p:sp>
      <p:sp>
        <p:nvSpPr>
          <p:cNvPr id="48" name="Text 37"/>
          <p:cNvSpPr txBox="1"/>
          <p:nvPr/>
        </p:nvSpPr>
        <p:spPr>
          <a:xfrm>
            <a:off x="6943954" y="4520794"/>
            <a:ext cx="375178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data controls, audit-readiness basics, data quality checks.</a:t>
            </a:r>
            <a:endParaRPr lang="en-US" sz="900" dirty="0"/>
          </a:p>
        </p:txBody>
      </p:sp>
      <p:sp>
        <p:nvSpPr>
          <p:cNvPr id="49" name="Shape 38"/>
          <p:cNvSpPr/>
          <p:nvPr/>
        </p:nvSpPr>
        <p:spPr>
          <a:xfrm>
            <a:off x="6324905" y="5192878"/>
            <a:ext cx="5105095" cy="866851"/>
          </a:xfrm>
          <a:prstGeom prst="roundRect">
            <a:avLst>
              <a:gd name="adj" fmla="val 9273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0" name="Shape 39"/>
          <p:cNvSpPr/>
          <p:nvPr/>
        </p:nvSpPr>
        <p:spPr>
          <a:xfrm>
            <a:off x="6448349" y="5317236"/>
            <a:ext cx="381305" cy="381305"/>
          </a:xfrm>
          <a:prstGeom prst="roundRect">
            <a:avLst>
              <a:gd name="adj" fmla="val 35971"/>
            </a:avLst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1" name="Image 9" descr="preencoded.png"/>
          <p:cNvPicPr>
            <a:picLocks noChangeAspect="1"/>
          </p:cNvPicPr>
          <p:nvPr/>
        </p:nvPicPr>
        <p:blipFill>
          <a:blip r:embed="rId12"/>
          <a:srcRect t="-1310" b="-1310"/>
          <a:stretch/>
        </p:blipFill>
        <p:spPr>
          <a:xfrm>
            <a:off x="6534302" y="5421478"/>
            <a:ext cx="209398" cy="171907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6943954" y="5317236"/>
            <a:ext cx="30102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11827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Communication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6943954" y="5501030"/>
            <a:ext cx="344454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ESG insights storytelling, Pyramid Principle (PowerPoint).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1380744" y="2804465"/>
            <a:ext cx="666598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5" name="Text 43"/>
          <p:cNvSpPr txBox="1"/>
          <p:nvPr/>
        </p:nvSpPr>
        <p:spPr>
          <a:xfrm>
            <a:off x="1380744" y="2804465"/>
            <a:ext cx="743407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Scope 1/2/3</a:t>
            </a:r>
            <a:endParaRPr lang="en-US" sz="800" dirty="0"/>
          </a:p>
        </p:txBody>
      </p:sp>
      <p:sp>
        <p:nvSpPr>
          <p:cNvPr id="56" name="Shape 44"/>
          <p:cNvSpPr/>
          <p:nvPr/>
        </p:nvSpPr>
        <p:spPr>
          <a:xfrm>
            <a:off x="2080260" y="2804465"/>
            <a:ext cx="619049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7" name="Text 45"/>
          <p:cNvSpPr txBox="1"/>
          <p:nvPr/>
        </p:nvSpPr>
        <p:spPr>
          <a:xfrm>
            <a:off x="2080260" y="2804465"/>
            <a:ext cx="6958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Boundaries</a:t>
            </a:r>
            <a:endParaRPr lang="en-US" sz="800" dirty="0"/>
          </a:p>
        </p:txBody>
      </p:sp>
      <p:sp>
        <p:nvSpPr>
          <p:cNvPr id="58" name="Shape 46"/>
          <p:cNvSpPr/>
          <p:nvPr/>
        </p:nvSpPr>
        <p:spPr>
          <a:xfrm>
            <a:off x="1380744" y="3784702"/>
            <a:ext cx="981151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47"/>
          <p:cNvSpPr txBox="1"/>
          <p:nvPr/>
        </p:nvSpPr>
        <p:spPr>
          <a:xfrm>
            <a:off x="1380744" y="3784702"/>
            <a:ext cx="1167689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Impact vs Financial</a:t>
            </a:r>
            <a:endParaRPr lang="en-US" sz="800" dirty="0"/>
          </a:p>
        </p:txBody>
      </p:sp>
      <p:sp>
        <p:nvSpPr>
          <p:cNvPr id="60" name="Shape 48"/>
          <p:cNvSpPr/>
          <p:nvPr/>
        </p:nvSpPr>
        <p:spPr>
          <a:xfrm>
            <a:off x="2391156" y="3784702"/>
            <a:ext cx="362102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49"/>
          <p:cNvSpPr txBox="1"/>
          <p:nvPr/>
        </p:nvSpPr>
        <p:spPr>
          <a:xfrm>
            <a:off x="2391156" y="3784702"/>
            <a:ext cx="4389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TCFD</a:t>
            </a:r>
            <a:endParaRPr lang="en-US" sz="800" dirty="0"/>
          </a:p>
        </p:txBody>
      </p:sp>
      <p:sp>
        <p:nvSpPr>
          <p:cNvPr id="62" name="Shape 50"/>
          <p:cNvSpPr/>
          <p:nvPr/>
        </p:nvSpPr>
        <p:spPr>
          <a:xfrm>
            <a:off x="1380744" y="4764938"/>
            <a:ext cx="1019556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51"/>
          <p:cNvSpPr txBox="1"/>
          <p:nvPr/>
        </p:nvSpPr>
        <p:spPr>
          <a:xfrm>
            <a:off x="1380744" y="4764938"/>
            <a:ext cx="114665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SLLs &amp; Green Bonds</a:t>
            </a:r>
            <a:endParaRPr lang="en-US" sz="800" dirty="0"/>
          </a:p>
        </p:txBody>
      </p:sp>
      <p:sp>
        <p:nvSpPr>
          <p:cNvPr id="64" name="Shape 52"/>
          <p:cNvSpPr/>
          <p:nvPr/>
        </p:nvSpPr>
        <p:spPr>
          <a:xfrm>
            <a:off x="2435047" y="4764938"/>
            <a:ext cx="495605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53"/>
          <p:cNvSpPr txBox="1"/>
          <p:nvPr/>
        </p:nvSpPr>
        <p:spPr>
          <a:xfrm>
            <a:off x="2435047" y="4764938"/>
            <a:ext cx="5715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KPI-SPT</a:t>
            </a:r>
            <a:endParaRPr lang="en-US" sz="800" dirty="0"/>
          </a:p>
        </p:txBody>
      </p:sp>
      <p:sp>
        <p:nvSpPr>
          <p:cNvPr id="66" name="Shape 54"/>
          <p:cNvSpPr/>
          <p:nvPr/>
        </p:nvSpPr>
        <p:spPr>
          <a:xfrm>
            <a:off x="1380744" y="5744261"/>
            <a:ext cx="562356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7" name="Text 55"/>
          <p:cNvSpPr txBox="1"/>
          <p:nvPr/>
        </p:nvSpPr>
        <p:spPr>
          <a:xfrm>
            <a:off x="1380744" y="5744261"/>
            <a:ext cx="6382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GRI/SASB</a:t>
            </a:r>
            <a:endParaRPr lang="en-US" sz="800" dirty="0"/>
          </a:p>
        </p:txBody>
      </p:sp>
      <p:sp>
        <p:nvSpPr>
          <p:cNvPr id="68" name="Shape 56"/>
          <p:cNvSpPr/>
          <p:nvPr/>
        </p:nvSpPr>
        <p:spPr>
          <a:xfrm>
            <a:off x="1979676" y="5744261"/>
            <a:ext cx="609905" cy="190195"/>
          </a:xfrm>
          <a:prstGeom prst="roundRect">
            <a:avLst>
              <a:gd name="adj" fmla="val 96154"/>
            </a:avLst>
          </a:prstGeom>
          <a:solidFill>
            <a:srgbClr val="D1FAE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9" name="Text 57"/>
          <p:cNvSpPr txBox="1"/>
          <p:nvPr/>
        </p:nvSpPr>
        <p:spPr>
          <a:xfrm>
            <a:off x="1979676" y="5744261"/>
            <a:ext cx="6858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065F4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IFRS/BRSR</a:t>
            </a:r>
            <a:endParaRPr lang="en-US" sz="800" dirty="0"/>
          </a:p>
        </p:txBody>
      </p:sp>
      <p:sp>
        <p:nvSpPr>
          <p:cNvPr id="70" name="Shape 58"/>
          <p:cNvSpPr/>
          <p:nvPr/>
        </p:nvSpPr>
        <p:spPr>
          <a:xfrm>
            <a:off x="6943954" y="2804465"/>
            <a:ext cx="724205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1" name="Text 59"/>
          <p:cNvSpPr txBox="1"/>
          <p:nvPr/>
        </p:nvSpPr>
        <p:spPr>
          <a:xfrm>
            <a:off x="6943954" y="2804465"/>
            <a:ext cx="82753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Data Analysis</a:t>
            </a:r>
            <a:endParaRPr lang="en-US" sz="800" dirty="0"/>
          </a:p>
        </p:txBody>
      </p:sp>
      <p:sp>
        <p:nvSpPr>
          <p:cNvPr id="72" name="Shape 60"/>
          <p:cNvSpPr/>
          <p:nvPr/>
        </p:nvSpPr>
        <p:spPr>
          <a:xfrm>
            <a:off x="7700162" y="2804465"/>
            <a:ext cx="562356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3" name="Text 61"/>
          <p:cNvSpPr txBox="1"/>
          <p:nvPr/>
        </p:nvSpPr>
        <p:spPr>
          <a:xfrm>
            <a:off x="7700162" y="2804465"/>
            <a:ext cx="6382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Scenarios</a:t>
            </a:r>
            <a:endParaRPr lang="en-US" sz="800" dirty="0"/>
          </a:p>
        </p:txBody>
      </p:sp>
      <p:sp>
        <p:nvSpPr>
          <p:cNvPr id="74" name="Shape 62"/>
          <p:cNvSpPr/>
          <p:nvPr/>
        </p:nvSpPr>
        <p:spPr>
          <a:xfrm>
            <a:off x="6943954" y="3784702"/>
            <a:ext cx="5148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5" name="Text 63"/>
          <p:cNvSpPr txBox="1"/>
          <p:nvPr/>
        </p:nvSpPr>
        <p:spPr>
          <a:xfrm>
            <a:off x="6943954" y="3784702"/>
            <a:ext cx="59070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BI</a:t>
            </a:r>
            <a:endParaRPr lang="en-US" sz="800" dirty="0"/>
          </a:p>
        </p:txBody>
      </p:sp>
      <p:sp>
        <p:nvSpPr>
          <p:cNvPr id="76" name="Shape 64"/>
          <p:cNvSpPr/>
          <p:nvPr/>
        </p:nvSpPr>
        <p:spPr>
          <a:xfrm>
            <a:off x="7492594" y="3784702"/>
            <a:ext cx="466344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7" name="Text 65"/>
          <p:cNvSpPr txBox="1"/>
          <p:nvPr/>
        </p:nvSpPr>
        <p:spPr>
          <a:xfrm>
            <a:off x="7492594" y="3784702"/>
            <a:ext cx="54315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Tableau</a:t>
            </a:r>
            <a:endParaRPr lang="en-US" sz="800" dirty="0"/>
          </a:p>
        </p:txBody>
      </p:sp>
      <p:sp>
        <p:nvSpPr>
          <p:cNvPr id="78" name="Shape 66"/>
          <p:cNvSpPr/>
          <p:nvPr/>
        </p:nvSpPr>
        <p:spPr>
          <a:xfrm>
            <a:off x="6943954" y="4764938"/>
            <a:ext cx="495605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9" name="Text 67"/>
          <p:cNvSpPr txBox="1"/>
          <p:nvPr/>
        </p:nvSpPr>
        <p:spPr>
          <a:xfrm>
            <a:off x="6943954" y="4764938"/>
            <a:ext cx="57150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Controls</a:t>
            </a:r>
            <a:endParaRPr lang="en-US" sz="800" dirty="0"/>
          </a:p>
        </p:txBody>
      </p:sp>
      <p:sp>
        <p:nvSpPr>
          <p:cNvPr id="80" name="Shape 68"/>
          <p:cNvSpPr/>
          <p:nvPr/>
        </p:nvSpPr>
        <p:spPr>
          <a:xfrm>
            <a:off x="7472477" y="4764938"/>
            <a:ext cx="838505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1" name="Text 69"/>
          <p:cNvSpPr txBox="1"/>
          <p:nvPr/>
        </p:nvSpPr>
        <p:spPr>
          <a:xfrm>
            <a:off x="7472477" y="4764938"/>
            <a:ext cx="955548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Audit Readiness</a:t>
            </a:r>
            <a:endParaRPr lang="en-US" sz="800" dirty="0"/>
          </a:p>
        </p:txBody>
      </p:sp>
      <p:sp>
        <p:nvSpPr>
          <p:cNvPr id="82" name="Shape 70"/>
          <p:cNvSpPr/>
          <p:nvPr/>
        </p:nvSpPr>
        <p:spPr>
          <a:xfrm>
            <a:off x="6943954" y="5744261"/>
            <a:ext cx="629107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3" name="Text 71"/>
          <p:cNvSpPr txBox="1"/>
          <p:nvPr/>
        </p:nvSpPr>
        <p:spPr>
          <a:xfrm>
            <a:off x="6943954" y="5744261"/>
            <a:ext cx="748894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Storytelling</a:t>
            </a:r>
            <a:endParaRPr lang="en-US" sz="800" dirty="0"/>
          </a:p>
        </p:txBody>
      </p:sp>
      <p:sp>
        <p:nvSpPr>
          <p:cNvPr id="84" name="Shape 72"/>
          <p:cNvSpPr/>
          <p:nvPr/>
        </p:nvSpPr>
        <p:spPr>
          <a:xfrm>
            <a:off x="7605979" y="5744261"/>
            <a:ext cx="905256" cy="190195"/>
          </a:xfrm>
          <a:prstGeom prst="roundRect">
            <a:avLst>
              <a:gd name="adj" fmla="val 96154"/>
            </a:avLst>
          </a:prstGeom>
          <a:solidFill>
            <a:srgbClr val="E5E7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5" name="Text 73"/>
          <p:cNvSpPr txBox="1"/>
          <p:nvPr/>
        </p:nvSpPr>
        <p:spPr>
          <a:xfrm>
            <a:off x="7605979" y="5744261"/>
            <a:ext cx="1077163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415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Pyramid Principle</a:t>
            </a:r>
            <a:endParaRPr lang="en-US" sz="800" dirty="0"/>
          </a:p>
        </p:txBody>
      </p:sp>
      <p:sp>
        <p:nvSpPr>
          <p:cNvPr id="86" name="Shape 74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87" name="Text 75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88" name="Text 76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18</a:t>
            </a:r>
            <a:endParaRPr lang="en-US" sz="900" dirty="0"/>
          </a:p>
        </p:txBody>
      </p:sp>
      <p:pic>
        <p:nvPicPr>
          <p:cNvPr id="89" name="Image 10" descr="preencoded.png"/>
          <p:cNvPicPr>
            <a:picLocks noChangeAspect="1"/>
          </p:cNvPicPr>
          <p:nvPr/>
        </p:nvPicPr>
        <p:blipFill>
          <a:blip r:embed="rId13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66598" y="1295705"/>
            <a:ext cx="1085850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kern="0" spc="-67" dirty="0">
                <a:solidFill>
                  <a:srgbClr val="04473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DETAILS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761695" y="2133295"/>
            <a:ext cx="2495398" cy="3047695"/>
          </a:xfrm>
          <a:prstGeom prst="roundRect">
            <a:avLst>
              <a:gd name="adj" fmla="val 11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05356" y="2876702"/>
            <a:ext cx="609905" cy="6099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95551" y="3066898"/>
            <a:ext cx="228600" cy="2286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54734" y="3676802"/>
            <a:ext cx="5102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Email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961949" y="3981298"/>
            <a:ext cx="209580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praveengour2103@gmail.com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486607" y="2133295"/>
            <a:ext cx="2495398" cy="3047695"/>
          </a:xfrm>
          <a:prstGeom prst="roundRect">
            <a:avLst>
              <a:gd name="adj" fmla="val 11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429354" y="2991002"/>
            <a:ext cx="609905" cy="6099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l="-57" r="-57"/>
          <a:stretch/>
        </p:blipFill>
        <p:spPr>
          <a:xfrm>
            <a:off x="4634179" y="3181198"/>
            <a:ext cx="200254" cy="2286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340657" y="3791102"/>
            <a:ext cx="79369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LinkedIn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3562502" y="4095598"/>
            <a:ext cx="234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linkedin.com/in/praveengour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210605" y="2133295"/>
            <a:ext cx="2495398" cy="3047695"/>
          </a:xfrm>
          <a:prstGeom prst="roundRect">
            <a:avLst>
              <a:gd name="adj" fmla="val 11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153351" y="2991002"/>
            <a:ext cx="609905" cy="6099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343546" y="3181198"/>
            <a:ext cx="228600" cy="22860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174382" y="3791102"/>
            <a:ext cx="571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Phone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6794906" y="4095598"/>
            <a:ext cx="132679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+91 9977331994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8934602" y="2133295"/>
            <a:ext cx="2495398" cy="3047695"/>
          </a:xfrm>
          <a:prstGeom prst="roundRect">
            <a:avLst>
              <a:gd name="adj" fmla="val 111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9877349" y="2991002"/>
            <a:ext cx="609905" cy="609905"/>
          </a:xfrm>
          <a:prstGeom prst="ellipse">
            <a:avLst/>
          </a:prstGeom>
          <a:solidFill>
            <a:srgbClr val="F0FDF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rcRect l="-133" r="-133"/>
          <a:stretch/>
        </p:blipFill>
        <p:spPr>
          <a:xfrm>
            <a:off x="10096805" y="3181198"/>
            <a:ext cx="171907" cy="22860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784080" y="3791102"/>
            <a:ext cx="8055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9977018" y="4095598"/>
            <a:ext cx="419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B556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761695" y="6096305"/>
            <a:ext cx="1066830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761695" y="6262726"/>
            <a:ext cx="17455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Praveen Gour | ESG Portfolio</a:t>
            </a:r>
            <a:endParaRPr lang="en-US" sz="900" dirty="0"/>
          </a:p>
        </p:txBody>
      </p:sp>
      <p:sp>
        <p:nvSpPr>
          <p:cNvPr id="27" name="Text 21"/>
          <p:cNvSpPr txBox="1"/>
          <p:nvPr/>
        </p:nvSpPr>
        <p:spPr>
          <a:xfrm>
            <a:off x="11011205" y="6262726"/>
            <a:ext cx="49743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CA3A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Page 19</a:t>
            </a:r>
            <a:endParaRPr lang="en-US" sz="9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rcRect t="-1" b="-1"/>
          <a:stretch/>
        </p:blipFill>
        <p:spPr>
          <a:xfrm>
            <a:off x="0" y="0"/>
            <a:ext cx="12191695" cy="1143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1479</TotalTime>
  <Words>2512</Words>
  <Application>Microsoft Office PowerPoint</Application>
  <PresentationFormat>Widescreen</PresentationFormat>
  <Paragraphs>459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Montserrat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GCIL GCIL</cp:lastModifiedBy>
  <cp:revision>6</cp:revision>
  <dcterms:created xsi:type="dcterms:W3CDTF">2026-02-01T19:38:14Z</dcterms:created>
  <dcterms:modified xsi:type="dcterms:W3CDTF">2026-02-05T05:15:48Z</dcterms:modified>
</cp:coreProperties>
</file>