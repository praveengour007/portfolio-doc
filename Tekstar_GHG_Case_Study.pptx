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1B-42FC-B07E-89FCCB481730}"/>
              </c:ext>
            </c:extLst>
          </c:dPt>
          <c:dPt>
            <c:idx val="1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1B-42FC-B07E-89FCCB481730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1B-42FC-B07E-89FCCB481730}"/>
              </c:ext>
            </c:extLst>
          </c:dPt>
          <c:cat>
            <c:strRef>
              <c:f>Sheet1!$A$2:$A$4</c:f>
              <c:strCache>
                <c:ptCount val="3"/>
                <c:pt idx="0">
                  <c:v>Scope 1 (6.5%)</c:v>
                </c:pt>
                <c:pt idx="1">
                  <c:v>Scope 2 (37.6%)</c:v>
                </c:pt>
                <c:pt idx="2">
                  <c:v>Scope 3 (55.9%)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955</c:v>
                </c:pt>
                <c:pt idx="1">
                  <c:v>5542</c:v>
                </c:pt>
                <c:pt idx="2">
                  <c:v>8238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1B-42FC-B07E-89FCCB481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tCO₂e</c:v>
                </c:pt>
              </c:strCache>
            </c:strRef>
          </c:tx>
          <c:spPr>
            <a:solidFill>
              <a:srgbClr val="2471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E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Natural gas
(boilers)</c:v>
                </c:pt>
                <c:pt idx="1">
                  <c:v>Diesel
(genset+fleet)</c:v>
                </c:pt>
                <c:pt idx="2">
                  <c:v>N₂O
(dyeing)</c:v>
                </c:pt>
                <c:pt idx="3">
                  <c:v>HFC
(refrigerants)</c:v>
                </c:pt>
                <c:pt idx="4">
                  <c:v>LPG
(canteen)</c:v>
                </c:pt>
                <c:pt idx="5">
                  <c:v>CH₄
(ETP)</c:v>
                </c:pt>
                <c:pt idx="6">
                  <c:v>Petrol
(cars)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582</c:v>
                </c:pt>
                <c:pt idx="1">
                  <c:v>278</c:v>
                </c:pt>
                <c:pt idx="2">
                  <c:v>85</c:v>
                </c:pt>
                <c:pt idx="3">
                  <c:v>55</c:v>
                </c:pt>
                <c:pt idx="4">
                  <c:v>24</c:v>
                </c:pt>
                <c:pt idx="5">
                  <c:v>18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3-44C4-B97D-5F3ADAE2A6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tCO₂e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2E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Cat 11 · Consumer use (washing)</c:v>
                </c:pt>
                <c:pt idx="1">
                  <c:v>Cat 12 · Landfill disposal</c:v>
                </c:pt>
                <c:pt idx="2">
                  <c:v>Cat 12 · Incineration</c:v>
                </c:pt>
                <c:pt idx="3">
                  <c:v>Cat 4 · Road freight (inbound)</c:v>
                </c:pt>
                <c:pt idx="4">
                  <c:v>Cat 1 · Polyester procurement</c:v>
                </c:pt>
                <c:pt idx="5">
                  <c:v>Cat 1 · Cotton procurement</c:v>
                </c:pt>
                <c:pt idx="6">
                  <c:v>Cat 4 · Rail freight (inbound)</c:v>
                </c:pt>
                <c:pt idx="7">
                  <c:v>Cat 7 · Employee commute (bus)</c:v>
                </c:pt>
                <c:pt idx="8">
                  <c:v>Cat 7 · Commute (motorcycles)</c:v>
                </c:pt>
                <c:pt idx="9">
                  <c:v>Cat 9 · Export sea freight</c:v>
                </c:pt>
                <c:pt idx="10">
                  <c:v>Cat 7 · Commute (cars)</c:v>
                </c:pt>
                <c:pt idx="11">
                  <c:v>Cat 9 · Domestic road freight</c:v>
                </c:pt>
                <c:pt idx="12">
                  <c:v>Cat 1 · Chemical dyes</c:v>
                </c:pt>
                <c:pt idx="13">
                  <c:v>Other sources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3104</c:v>
                </c:pt>
                <c:pt idx="1">
                  <c:v>1063</c:v>
                </c:pt>
                <c:pt idx="2">
                  <c:v>570</c:v>
                </c:pt>
                <c:pt idx="3">
                  <c:v>508</c:v>
                </c:pt>
                <c:pt idx="4">
                  <c:v>464</c:v>
                </c:pt>
                <c:pt idx="5">
                  <c:v>384</c:v>
                </c:pt>
                <c:pt idx="6">
                  <c:v>347</c:v>
                </c:pt>
                <c:pt idx="7">
                  <c:v>320</c:v>
                </c:pt>
                <c:pt idx="8">
                  <c:v>322</c:v>
                </c:pt>
                <c:pt idx="9">
                  <c:v>271</c:v>
                </c:pt>
                <c:pt idx="10">
                  <c:v>238</c:v>
                </c:pt>
                <c:pt idx="11">
                  <c:v>236</c:v>
                </c:pt>
                <c:pt idx="12">
                  <c:v>198</c:v>
                </c:pt>
                <c:pt idx="13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4A-4B4E-8FCE-A65678571F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2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132320" y="3566160"/>
            <a:ext cx="2286000" cy="2286000"/>
          </a:xfrm>
          <a:prstGeom prst="rect">
            <a:avLst/>
          </a:prstGeom>
          <a:solidFill>
            <a:srgbClr val="F4F6F7">
              <a:alpha val="60000"/>
            </a:srgbClr>
          </a:solidFill>
          <a:ln w="12700">
            <a:solidFill>
              <a:srgbClr val="F4F6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2296"/>
            <a:ext cx="54864" cy="5061204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Inventory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Reporting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Tekstar Industries · Ahmedabad,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 1, 2 &amp; 3 inventory built from raw activity data · GHG Protocol Corporate Standard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011680" cy="640080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by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3246120"/>
            <a:ext cx="2011680" cy="640080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3273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9748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Manufacturing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2011680" cy="640080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273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Year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3246120"/>
            <a:ext cx="2011680" cy="640080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3273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9516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Protocol Corporate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438912" cy="438912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78808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" y="4389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ESG &amp; Sustainability Professional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132320" y="3566160"/>
            <a:ext cx="2286000" cy="2286000"/>
          </a:xfrm>
          <a:prstGeom prst="rect">
            <a:avLst/>
          </a:prstGeom>
          <a:solidFill>
            <a:srgbClr val="F4F6F7">
              <a:alpha val="60000"/>
            </a:srgbClr>
          </a:solidFill>
          <a:ln w="12700">
            <a:solidFill>
              <a:srgbClr val="F4F6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042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2984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Tekstar Industries is a fictional mid-size textile manufacturer based in Ahmedabad, Gujarat — producing 8,020 tonnes of fabric annually, employing 750 staff and generating ₹2,500 Cr in revenue. The company exports to EU and US markets, making it subject to CSRD supply-chain disclosure requirements from its buyers.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386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Approach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Self-initiated end-to-end GHG inventory built from raw activity data — no pre-calculated figures used. Every tCO₂e value was derived independently through emission factor selection, calculation, scope aggregation and Power BI dashboard visualisation.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042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complete GHG inventory — Scope 1, 2 &amp; 3 — using GHG Protocol Corporate Standard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appropriate EFs from CEA, DEFRA 2023 &amp; IPCC; select location-based vs market-based for Scope 2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emission intensity ratios to benchmark operational performance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highest-impact hotspots and translate into actionable reduction recommendations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Power BI dashboard for stakeholder communication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INVENTORY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 by Scope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2084832" cy="877824"/>
          </a:xfrm>
          <a:prstGeom prst="rect">
            <a:avLst/>
          </a:prstGeom>
          <a:solidFill>
            <a:srgbClr val="F4F6F7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024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" y="15727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987552"/>
            <a:ext cx="2084832" cy="877824"/>
          </a:xfrm>
          <a:prstGeom prst="rect">
            <a:avLst/>
          </a:prstGeom>
          <a:solidFill>
            <a:srgbClr val="EBF5FB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70048" y="1024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— Direct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70048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70048" y="15727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 ·  6.5%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987552"/>
            <a:ext cx="2084832" cy="877824"/>
          </a:xfrm>
          <a:prstGeom prst="rect">
            <a:avLst/>
          </a:prstGeom>
          <a:solidFill>
            <a:srgbClr val="EAFAF1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1024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— Energy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64608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64608" y="15727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 ·  37.6%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49440" y="987552"/>
            <a:ext cx="2084832" cy="877824"/>
          </a:xfrm>
          <a:prstGeom prst="rect">
            <a:avLst/>
          </a:prstGeom>
          <a:solidFill>
            <a:srgbClr val="FEF9E7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59168" y="1024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— Value chain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59168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8,238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59168" y="15727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 ·  55.9%</a:t>
            </a:r>
            <a:endParaRPr lang="en-US" sz="8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1965960"/>
          <a:ext cx="34747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3931920" y="1993392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050792" y="19842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Intensity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240280"/>
          <a:ext cx="4846320" cy="1371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Intensity 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tCO₂e / tonne fabric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tCO₂e / ₹ Crore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tCO₂e / employee (FTE)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2 grid EF used (location)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kgCO₂e/kWh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3931920" y="3703320"/>
            <a:ext cx="4846320" cy="1170432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3931920" y="3703320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069080" y="3739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069080" y="39319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dominates at 55.9% — consistent with textile sector benchmarks (40–60%). The biggest climate lever is product design for durability and recyclability, not just operational efficiency.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132320" y="3566160"/>
            <a:ext cx="2286000" cy="2286000"/>
          </a:xfrm>
          <a:prstGeom prst="rect">
            <a:avLst/>
          </a:prstGeom>
          <a:solidFill>
            <a:srgbClr val="F4F6F7">
              <a:alpha val="60000"/>
            </a:srgbClr>
          </a:solidFill>
          <a:ln w="12700">
            <a:solidFill>
              <a:srgbClr val="F4F6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INVENTORY RESULTS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&amp; Scope 2 Detail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24128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0149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— Key Sources (tCO₂e)</a:t>
            </a:r>
            <a:endParaRPr lang="en-US" sz="10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74320" y="12344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3584448"/>
            <a:ext cx="420624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3584448"/>
            <a:ext cx="4572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36027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 from dyeing carries 265× CO₂ GWP — disproportionate impact despite low physical mass. HFC-134a leaks (0.8–1.2 kg) = 1,430 GWP. Preventive maintenance is the lowest-cost Scope 1 lever.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1024128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82312" y="10149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— Electricity Breakdown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61872"/>
          <a:ext cx="411480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/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kWh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tCO₂e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factory — Meter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factory — Meter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 steam (CHP)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530,000 kWh-th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block + Warehouse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663440" y="3200400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82312" y="3191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vs Market-Based Method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3429000"/>
            <a:ext cx="1993392" cy="685800"/>
          </a:xfrm>
          <a:prstGeom prst="rect">
            <a:avLst/>
          </a:prstGeom>
          <a:solidFill>
            <a:srgbClr val="EAFA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54880" y="34564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54880" y="3630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5,542 tCO₂e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754880" y="38404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grid EF · 0.82 kgCO₂e/kWh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6766560" y="3429000"/>
            <a:ext cx="1993392" cy="685800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58000" y="34564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Market-based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858000" y="3630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5,542 tCO₂e*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858000" y="38404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*No RECs/PPAs held — equal to location-based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663440" y="4187952"/>
            <a:ext cx="4114800" cy="548640"/>
          </a:xfrm>
          <a:prstGeom prst="rect">
            <a:avLst/>
          </a:prstGeom>
          <a:solidFill>
            <a:srgbClr val="EAFAF1"/>
          </a:solidFill>
          <a:ln w="5080">
            <a:solidFill>
              <a:srgbClr val="AEB6B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renewable electricity / RECs reduces Scope 2 to near-zero under market-based method — single highest-impact abatement lever available.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INVENTORY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— Value Chain Breakdown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005840"/>
          <a:ext cx="5394960" cy="385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06440" y="1005840"/>
            <a:ext cx="2971800" cy="1143000"/>
          </a:xfrm>
          <a:prstGeom prst="rect">
            <a:avLst/>
          </a:prstGeom>
          <a:solidFill>
            <a:srgbClr val="FEF9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06440" y="1005840"/>
            <a:ext cx="45720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97880" y="1051560"/>
            <a:ext cx="27432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5352" y="106984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11 alone = 37.7% of Scope 3. Estimated via Higg Index LCA — lower confidence; actual value depends on consumer market energy mix.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2267712"/>
            <a:ext cx="2971800" cy="11430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06440" y="2267712"/>
            <a:ext cx="45720" cy="11430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97880" y="2313432"/>
            <a:ext cx="274320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2313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45352" y="2331720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 purchased goods (cotton + polyester + dyes) = 16% of Scope 3. Spend-based estimation — supplier primary data would improve quality.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806440" y="3529584"/>
            <a:ext cx="2971800" cy="1143000"/>
          </a:xfrm>
          <a:prstGeom prst="rect">
            <a:avLst/>
          </a:prstGeom>
          <a:solidFill>
            <a:srgbClr val="EAFA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06440" y="3529584"/>
            <a:ext cx="45720" cy="11430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97880" y="3575304"/>
            <a:ext cx="27432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9788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45352" y="35935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transport (Cat 4 road + rail) = 10.4% of Scope 3. Road EF is 2.2× rail — modal shift is a quick, measurable win.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5806440" y="4800600"/>
            <a:ext cx="2971800" cy="457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132320" y="3566160"/>
            <a:ext cx="2286000" cy="2286000"/>
          </a:xfrm>
          <a:prstGeom prst="rect">
            <a:avLst/>
          </a:prstGeom>
          <a:solidFill>
            <a:srgbClr val="F4F6F7">
              <a:alpha val="60000"/>
            </a:srgbClr>
          </a:solidFill>
          <a:ln w="12700">
            <a:solidFill>
              <a:srgbClr val="F4F6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COMMENTARY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4114800" cy="1755648"/>
          </a:xfrm>
          <a:prstGeom prst="rect">
            <a:avLst/>
          </a:prstGeom>
          <a:solidFill>
            <a:srgbClr val="FEF9E7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45720" cy="17556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097280"/>
            <a:ext cx="34747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1155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Dominance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1481328"/>
            <a:ext cx="3886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= 55.9% of total inventory — consistent with textile sector benchmarks (40–60%). Tekstar's biggest climate lever is product design for durability and recyclability, not operational efficiency alone.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14800" cy="1755648"/>
          </a:xfrm>
          <a:prstGeom prst="rect">
            <a:avLst/>
          </a:prstGeom>
          <a:solidFill>
            <a:srgbClr val="EBF5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5720" cy="17556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347472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6088" y="11155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11 Data Confidence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3886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use (washing &amp; drying) at 3,104 tCO₂e is estimated via Higg Index LCA benchmarks — lowest confidence tier. Actual magnitude depends on consumer market (EU vs India) and wash frequency. Flagged in disclosure.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4114800" cy="1755648"/>
          </a:xfrm>
          <a:prstGeom prst="rect">
            <a:avLst/>
          </a:prstGeom>
          <a:solidFill>
            <a:srgbClr val="EAFAF1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45720" cy="17556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035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— Clearest Near-Term Lever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3886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renewable electricity / RECs eliminates ~5,500 tCO₂e under market-based method — the single highest-impact abatement action without capital investment in production processes.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114800" cy="1755648"/>
          </a:xfrm>
          <a:prstGeom prst="rect">
            <a:avLst/>
          </a:prstGeom>
          <a:solidFill>
            <a:srgbClr val="F5EEF8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5720" cy="17556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347472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76088" y="3035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Refrigerant GWP Risk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401568"/>
            <a:ext cx="3886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HFC-134a and HFC-410A leaks are small in kg terms but significant in tCO₂e due to GWPs of 1,430 and 2,088. Preventive maintenance programme = low-cost, high-credibility disclosure win.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ROADMAP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Recommendations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" y="905256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" y="978408"/>
            <a:ext cx="283464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" y="996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" y="117957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Year · Quick Wins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" y="1472184"/>
            <a:ext cx="2834640" cy="1572768"/>
          </a:xfrm>
          <a:prstGeom prst="rect">
            <a:avLst/>
          </a:prstGeom>
          <a:solidFill>
            <a:srgbClr val="EAFA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" y="1472184"/>
            <a:ext cx="45720" cy="15727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5453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electricity / RECs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093976"/>
            <a:ext cx="640080" cy="1828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0939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23408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~5,500 tCO₂e reduction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" y="3209544"/>
            <a:ext cx="2834640" cy="1572768"/>
          </a:xfrm>
          <a:prstGeom prst="rect">
            <a:avLst/>
          </a:prstGeom>
          <a:solidFill>
            <a:srgbClr val="EAFA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888" y="3209544"/>
            <a:ext cx="45720" cy="15727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2826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Refrigerant leak detection programme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831336"/>
            <a:ext cx="640080" cy="1828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40782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Eliminate HFC losses; high credibility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978408"/>
            <a:ext cx="283464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28416" y="996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28416" y="117957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Years · Scaling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18688" y="1472184"/>
            <a:ext cx="2834640" cy="1572768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18688" y="1472184"/>
            <a:ext cx="45720" cy="15727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55848" y="15453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ESG engagement — primary data from top 10 cotton &amp; polyester suppliers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2093976"/>
            <a:ext cx="640080" cy="1828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55848" y="20939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Cat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55848" y="23408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Improves data quality; enables switching decisions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18688" y="3209544"/>
            <a:ext cx="2834640" cy="1572768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18688" y="3209544"/>
            <a:ext cx="45720" cy="15727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32826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shift: road → rail for inbound logistics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55848" y="3831336"/>
            <a:ext cx="640080" cy="1828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55848" y="383133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Cat 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55848" y="40782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Road EF = 2.2× rail; 20% shift → ~30 tCO₂e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90488" y="978408"/>
            <a:ext cx="283464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0216" y="996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117957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· Transform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90488" y="1472184"/>
            <a:ext cx="2834640" cy="1572768"/>
          </a:xfrm>
          <a:prstGeom prst="rect">
            <a:avLst/>
          </a:prstGeom>
          <a:solidFill>
            <a:srgbClr val="F5EE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90488" y="1472184"/>
            <a:ext cx="45720" cy="15727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7648" y="15453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for durability &amp; recyclability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27648" y="2093976"/>
            <a:ext cx="6400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27648" y="20939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Cat 11/12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27648" y="23408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Structural; highest long-term impact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90488" y="3209544"/>
            <a:ext cx="2834640" cy="1572768"/>
          </a:xfrm>
          <a:prstGeom prst="rect">
            <a:avLst/>
          </a:prstGeom>
          <a:solidFill>
            <a:srgbClr val="F5EE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90488" y="3209544"/>
            <a:ext cx="45720" cy="15727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27648" y="32826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 abatement: low-temp &amp; enzyme-based dyeing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27648" y="3831336"/>
            <a:ext cx="6400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27648" y="383133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327648" y="40782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Process redesign; reduces GHG + energy intensity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Gour | ESG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&amp; Reporting Relevance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5486400" cy="621792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45720" cy="62179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060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Standard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Protocol Corporate Accounting &amp; Reporting Standard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45720" cy="62179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73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Sources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1993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CO₂ Baseline 2023 · DEFRA 2023 · IPCC 2006 · EEIO US v1.1 · Higg Index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432304"/>
            <a:ext cx="5486400" cy="621792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432304"/>
            <a:ext cx="45720" cy="62179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487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raw activity data, EF lookup, tCO₂e formula, scope aggregation, intensity ratios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145536"/>
            <a:ext cx="45720" cy="62179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200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4198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scope share donut, emissions by fuel type, total tCO₂e KPI card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5486400" cy="621792"/>
          </a:xfrm>
          <a:prstGeom prst="rect">
            <a:avLst/>
          </a:prstGeom>
          <a:solidFill>
            <a:srgbClr val="F4F6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858768"/>
            <a:ext cx="45720" cy="62179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9136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Method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1330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(transport, travel, waste) · Spend-based EEIO (Cat 1) · LCA-based Higg Index (Cat 11)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05840"/>
            <a:ext cx="54864" cy="2011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Framework Relevance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280160"/>
            <a:ext cx="274320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1280160"/>
            <a:ext cx="45720" cy="7315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99632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15910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6 · Essential Indicators · Scope 1/2/3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80760" y="2148840"/>
            <a:ext cx="2743200" cy="731520"/>
          </a:xfrm>
          <a:prstGeom prst="rect">
            <a:avLst/>
          </a:prstGeom>
          <a:solidFill>
            <a:srgbClr val="EAFA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2148840"/>
            <a:ext cx="4572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9632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305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24597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305-1 (Direct) · 305-2 (Energy indirect) · 305-3 (Other indirect)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3017520"/>
            <a:ext cx="2743200" cy="731520"/>
          </a:xfrm>
          <a:prstGeom prst="rect">
            <a:avLst/>
          </a:prstGeom>
          <a:solidFill>
            <a:srgbClr val="F5EE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0760" y="3017520"/>
            <a:ext cx="4572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99632" y="3081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C6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99632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data · Scope 3 categories · Intensity metrics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0760" y="3886200"/>
            <a:ext cx="2743200" cy="731520"/>
          </a:xfrm>
          <a:prstGeom prst="rect">
            <a:avLst/>
          </a:prstGeom>
          <a:solidFill>
            <a:srgbClr val="FEF9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80760" y="3886200"/>
            <a:ext cx="45720" cy="73152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9632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ESRS E1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9632" y="419709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emissions · Value chain · Decarbonisation targets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1116</Words>
  <Application>Microsoft Office PowerPoint</Application>
  <PresentationFormat>On-screen Show 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Tekstar GHG Case Study</dc:title>
  <dc:subject>PptxGenJS Presentation</dc:subject>
  <dc:creator>PptxGenJS</dc:creator>
  <cp:lastModifiedBy>praveen gour</cp:lastModifiedBy>
  <cp:revision>3</cp:revision>
  <dcterms:created xsi:type="dcterms:W3CDTF">2026-05-24T09:36:37Z</dcterms:created>
  <dcterms:modified xsi:type="dcterms:W3CDTF">2026-05-24T10:30:23Z</dcterms:modified>
</cp:coreProperties>
</file>